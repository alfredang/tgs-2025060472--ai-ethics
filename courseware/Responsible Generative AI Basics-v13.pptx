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/practice-exams?q=responsible%20ai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tiarycourses.github.io/TGS-2025060472-Responsible-Generative-AI-Basics/labs/lu1-ethical-principles/ethical-dilemma/" TargetMode="External"/><Relationship Id="rId3" Type="http://schemas.openxmlformats.org/officeDocument/2006/relationships/hyperlink" Target="https://tertiarycourses.github.io/TGS-2025060472-Responsible-Generative-AI-Basics/labs/lu1-ethical-principles/principles-quiz/" TargetMode="External"/><Relationship Id="rId4" Type="http://schemas.openxmlformats.org/officeDocument/2006/relationships/hyperlink" Target="https://tertiarycourses.github.io/TGS-2025060472-Responsible-Generative-AI-Basics/labs/lu1-ethical-principles/prompt-injection/" TargetMode="External"/><Relationship Id="rId5" Type="http://schemas.openxmlformats.org/officeDocument/2006/relationships/hyperlink" Target="https://tertiarycourses.github.io/TGS-2025060472-Responsible-Generative-AI-Basics/labs/lu1-ethical-principles/decision-framework/" TargetMode="External"/><Relationship Id="rId6" Type="http://schemas.openxmlformats.org/officeDocument/2006/relationships/hyperlink" Target="https://tertiarycourses.github.io/TGS-2025060472-Responsible-Generative-AI-Basics/labs/lu1-ethical-principles/skepticism-checker/" TargetMode="External"/><Relationship Id="rId7" Type="http://schemas.openxmlformats.org/officeDocument/2006/relationships/hyperlink" Target="https://tertiarycourses.github.io/TGS-2025060472-Responsible-Generative-AI-Basics/labs/lu1-ethical-principles/cognitive-threat-matrix/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tiarycourses.github.io/TGS-2025060472-Responsible-Generative-AI-Basics/labs/lu2-privacy/dataprivacy/" TargetMode="External"/><Relationship Id="rId3" Type="http://schemas.openxmlformats.org/officeDocument/2006/relationships/hyperlink" Target="https://tertiarycourses.github.io/TGS-2025060472-Responsible-Generative-AI-Basics/labs/lu2-privacy/anonymizer-python/" TargetMode="External"/><Relationship Id="rId4" Type="http://schemas.openxmlformats.org/officeDocument/2006/relationships/hyperlink" Target="https://tertiarycourses.github.io/TGS-2025060472-Responsible-Generative-AI-Basics/labs/lu2-privacy/privacy-policy/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rtiarycourses.github.io/TGS-2025060472-Responsible-Generative-AI-Basics/labs/lu3-best-practices/ai-comparison/" TargetMode="External"/><Relationship Id="rId3" Type="http://schemas.openxmlformats.org/officeDocument/2006/relationships/hyperlink" Target="https://tertiarycourses.github.io/TGS-2025060472-Responsible-Generative-AI-Basics/labs/lu3-best-practices/differential-privacy/" TargetMode="External"/><Relationship Id="rId4" Type="http://schemas.openxmlformats.org/officeDocument/2006/relationships/hyperlink" Target="https://tertiarycourses.github.io/TGS-2025060472-Responsible-Generative-AI-Basics/labs/lu3-best-practices/xai-explorer/" TargetMode="External"/><Relationship Id="rId5" Type="http://schemas.openxmlformats.org/officeDocument/2006/relationships/hyperlink" Target="https://tertiarycourses.github.io/TGS-2025060472-Responsible-Generative-AI-Basics/labs/lu3-best-practices/ai-resource-allocation/" TargetMode="External"/><Relationship Id="rId6" Type="http://schemas.openxmlformats.org/officeDocument/2006/relationships/hyperlink" Target="https://tertiarycourses.github.io/TGS-2025060472-Responsible-Generative-AI-Basics/labs/lu3-best-practices/ethics-case-study/" TargetMode="Externa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84080" y="658368"/>
            <a:ext cx="16916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8229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1887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Responsible Generative AI Basics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TGS-2025060472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v13  ·  9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 / CREDENTIALS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PhD; 20+ years of training and industry experience in AI and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responsible AI, generative AI practices, data analytics and machine learning.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name, organisation and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10712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Which generative AI tools you already use at work — and what you use them for.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46904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thing about AI that genuinely worries you.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Actively participate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Respect each other's views: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 for funding eligibility.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ACCREDITATION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Responsible AI and Generative AI Practices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ICT-BAS-0055-1.1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Written Assessment (SAQ) + Case Study — both open book.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3 Learning Units (LU1–LU3), each mapped to a Learning Outcome.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 LEARNING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LU1 — Ethical Principles of Generative AI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Risks of GenAI Interaction · Ethical Principles · Ethical Decision-Making · Professional Scepticism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LU2 — Generative AI Privacy Techniques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Anonymisation &amp; De-identification · Privacy Measures in Practice · Ethical Data Guidelines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LU3 — Best Practices of Responsible Generative AI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Responsible AI Principles · Comparing AI Systems · Comparing Ethical Issues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1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 &amp;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Morning — 9:30am to 11:55am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Welcome, ground rules and AM digital attendance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LU1: Ethical Principles of Generative AI (Activities 1–5)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Tea break at 10:55am; lunch 11:55am–12:40pm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Afternoon — 12:40pm to 6:35pm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LU1 Activity 6; LU2: Privacy Techniques (Activities 7–9)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LU3: Best Practices of Responsible GenAI (Activities 10–14)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Assessment: WA (30 min) + Case Study (30 min), 5:35–6:35pm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CP duration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420 instructional minutes + 60 assessment minutes; breaks excluded.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Ethical Reasoning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ethical reasoning to assess generative AI outputs and guide responsible decision-making in AI implementation.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Privacy Safeguards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privacy safeguards to protect sensitive data used in generative AI through anonymisation and secure storage methods.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Ethical Comparison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Compare generative AI systems for ethical compliance based on intellectual property, privacy and environmental impact.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APPROVED CP · EVERY K &amp; A 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Proposal Traceability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LU1 · LO1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K2 · K4 · A1 · A2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LU2 · LO2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K1 · A6 · A3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LU3 · LO3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K3 · A4 · A5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77393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7739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51176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51176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642616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31012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3101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07822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07822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178808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62356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62356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3272" y="561441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2" y="561441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5715000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Written Assessment (WA) — Short-Answer Questions (SAQ), 30 minutes, open 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79623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 Study (CS) — one continuous scenario with open-ended tasks, 30 minutes, open 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1795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Format: Open Book — slides, Learner Guide and approved materials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3966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minimum of 75% attendance (per SSG Digital Attendance record) is required to be eligible for assessment and funding. Learners must be assessed as Competent in every K and A, and complete the TRAQOM survey.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6138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KNOWLEDGE STATEMENTS · WA-SAQ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K1 — Written Assessment (SAQ)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Data anonymisation and de-identification techniques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K2 — Written Assessment (SAQ)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Ethical considerations and potential risks of generative AI interaction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K3 — Written Assessment (SAQ)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Responsible AI principles and best practices for development and deployment, including intellectual property, data privacy and environmental impact considerations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K4 — Written Assessment (SAQ)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Ethical principles in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ABILITY STATEMENTS · 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77393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7739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A1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Apply ethical principles in decision-making related to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51176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51176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679192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A2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Exercise professional scepticism to exercise sound judgement on Gen AI 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31012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3101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A3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Apply privacy measures when handling data for AI applications (e.g., implement simple data anonymisation and de-identification techniques, secure data storage using basic encryption)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07822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07822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A4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Design guidelines or strategies for ethical AI use, including use of sensitive data in generative AI tools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A5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 AI systems based on considerations such as compliance with intellectual property, data privacy and environmental impact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62356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62356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3272" y="561441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2" y="561441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5751576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A6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 ethical issues in AI applications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(SAQ) then the Case Study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Everything for the open-book assessment — slides, Learner Guide and submissions — lives on the LMS.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3749039" cy="35661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6888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0040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Tertiary Infotech Academy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B8C7E0"/>
                </a:solidFill>
                <a:latin typeface="Arial"/>
              </a:rPr>
              <a:t>LMS and TMS for SSG courses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4297680"/>
            <a:ext cx="182880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4297680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Sign in / OTP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9CDCFE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2148840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2148840"/>
            <a:ext cx="91440" cy="7406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0" y="229057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29057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148840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 in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Log in with your registered email (OTP or password).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3090672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00600" y="3090672"/>
            <a:ext cx="91440" cy="7406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0" y="323240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2324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090672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Download materials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 and the Learner Guide from the course page — your open-book references.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4032504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00600" y="4032504"/>
            <a:ext cx="91440" cy="7406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417423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17423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032504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 answers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your Written Assessment and Case Study answers on the LMS.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4974336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00600" y="4974336"/>
            <a:ext cx="91440" cy="7406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29200" y="511606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51160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974336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TRAQOM survey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870448"/>
            <a:ext cx="10634472" cy="457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870448"/>
            <a:ext cx="914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87044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PRACTICE 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the practice-exam search to rehearse responsible-AI concepts. This is revision support, not the WSQ assessment paper.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175504" cy="12344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91440" cy="1234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04872"/>
            <a:ext cx="4672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 · 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43200"/>
            <a:ext cx="46725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Launch the Tertiary Exams Responsible AI search.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2240280"/>
            <a:ext cx="5175504" cy="12344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7064" y="2240280"/>
            <a:ext cx="9144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2404872"/>
            <a:ext cx="4672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 · Select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743200"/>
            <a:ext cx="46725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Choose a relevant Responsible AI or Generative AI practice set.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749040"/>
            <a:ext cx="5175504" cy="12344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749040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913632"/>
            <a:ext cx="4672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 · Practise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251960"/>
            <a:ext cx="46725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Attempt the free questions and read each explanation.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3749040"/>
            <a:ext cx="5175504" cy="12344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3749040"/>
            <a:ext cx="91440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3913632"/>
            <a:ext cx="467258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4 · Reflect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4251960"/>
            <a:ext cx="46725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Return to the Learner Guide for any weak K1–K4 concept.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66360"/>
            <a:ext cx="10634472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166360"/>
            <a:ext cx="101498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hlinkClick r:id="rId2"/>
              </a:rPr>
              <a:t>https://exams.tertiaryinfotech.com/practice-exams?q=responsible%20ai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Ethical Principles of 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Risks of GenAI Interaction · Ethical Principles · Ethical Decision-Making · Professional Scepticism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Ethical Principles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Generative AI carries hidden costs beyond the subscription fee: environmental load (energy, water, carbon), security exposure, and psychological or societal impact on the people who use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Deepfakes, voice cloning and face-swapping have made synthetic media cheap and convincing — eroding the assumption that seeing is believing.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bias is not a single defect: it is introduced through the training data, the model objective, and the deployment context, and it compounds at each stage.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Singapore's AI Verify framework defines 11 principles of trustworthy AI, split into process checks and technical tests, and is operationalised through Project Moonshot.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Applying ethics in practice means stratifying risk (EU AI Act), keeping a human in the loop for high-stakes decisions, and engineering ethics into the design, not bolting it 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Professional scepticism is the discipline of verifying GenAI output against source evidence — the antidote to automation bias, where people defer to a confident machine.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T1 · BEYOND THE SUBSCRIPTION 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Hidden Costs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prompt has costs that never appear on the invoice.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Environmental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Training and inference consume electricity, fresh water for cooling and embodied carbon in the hardware. A single large model's training run can emit as much CO2 as several cars over their lifetime.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 pasted into a public AI tool may be retained, used for training or exposed. AI also widens the attack surface — prompt injection, model extraction and data leakage are new classes of vulnerability.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Psychological &amp; Societal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Increasing dependence on AI, AI as a social and emotional companion, and the erosion of the human capacity to judge — the 'human filter' degrades the more it is bypassed.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Epistemic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Deepfakes, voice cloning and synthetic media are now cheap and convincing, dissolving the shared assumption that a recording is evidence of anything.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T1 · THE SCALE OF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GenAI Risk Is Not Hypothetical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gap between how fast AI is adopted and how fast it is governed is where risk lives.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330098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F6FEB"/>
                </a:solidFill>
                <a:latin typeface="Arial"/>
              </a:rPr>
              <a:t>98%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Accuracy can still mean a life-threatening error in the 2% — accuracy is not safety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4" y="2240280"/>
            <a:ext cx="330098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0B981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Layers where bias enters: the training data, the model objective, the deployment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2240280"/>
            <a:ext cx="3300984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7C3AED"/>
                </a:solidFill>
                <a:latin typeface="Arial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Principles of trustworthy AI defined by Singapore's AI Verify framework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349240"/>
            <a:ext cx="10634472" cy="777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34924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3492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High accuracy on average says nothing about who bears the error. Always ask: who is in the 2%?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T1 · WHERE BIAS ENTERS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Deconstruction of AI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Bias is not one defect to be patched — it is introduced at three separate stages and compounds.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How it enters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What it produces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bias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Training data over-represents some groups and under-represents others; historical records encode past discrimination.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model that is systematically less accurate for under-represented groups.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749040"/>
            <a:ext cx="2148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40"/>
            <a:ext cx="1874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Objective bias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749040"/>
            <a:ext cx="424281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74904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metric the model optimises (clicks, cost, speed) is a proxy for what we actually care about (welfare, fairness, safety).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749040"/>
            <a:ext cx="424281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74904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model that optimises the proxy perfectly while defeating the real goal.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937760"/>
            <a:ext cx="2148840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37760"/>
            <a:ext cx="1874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Deployment bias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937760"/>
            <a:ext cx="4242816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93776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system is used on a population, or for a purpose, different from the one it was built and validated for.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937760"/>
            <a:ext cx="4242816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93776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Confident predictions in a context where the model was never tested.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T2 · 11 PRINCIPLES, 2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AI Verify — Singapore's Testing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AI Verify splits the 11 principles by how each can actually be evidenced. aiverifyfoundation.sg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Zone 1 — Process checks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Transparency · Reproducibility · Safety · Security · Data Governance · Accountability · Human Agency &amp; Oversight · Inclusive Growth &amp; Societal Impact. Evidenced through standardised checklists, documentation and governance frameworks.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Zone 2 — Technical tests + process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Fairness · Explainability · Robustness. Evidenced through black-box technical testing on model inputs and outputs, supported by quantitative toolkits.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Why the split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 cannot unit-test accountability, and you cannot govern robustness with a policy document alone. The framework integrates technical validation (TEVV) directly with process governance.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Project Moonshot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open-source companion toolkit that operationalises the testing — benchmarking, red-teaming and baseline testing for LLM applications. github.com/aiverify-foundation/moonshot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T2 · RISK →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GenAI Risk Diagnostic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Each GenAI risk category has a distinct testing target — you cannot test them all the same 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Output testing 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Component testing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Hallucination &amp; inaccuracy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Domain knowledge; out-of-domain handling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Retrieval-Augmented Generation (RAG)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273552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73552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Bias in decision making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Parity metrics; counterfactual checks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Model, system prompt, input filters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86784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86784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Undesirable content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Content type; elicitation rate; helpfulness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Input &amp; output filters; system prompt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700016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700016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leakage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Data type leaked; ease of elicitation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Input &amp; output filters; system prompt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413248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13248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Adversarial prompts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90672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Direct vs indirect prompt injection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8896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33488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Input &amp; output filters; system prompt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LU1 · T3 · RISK-BASED REGULATION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EU AI Act Compliance Waterfall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EU AI Act regulates by the risk a system poses, not by the technology it uses.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15059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5059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Unacceptable risk — prohibited outright (social scoring, manipulative systems)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6110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13582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51401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1401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 risk — conformity assessment, risk management, human oversight,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2452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9924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7743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7743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6228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Limited risk — transparency obligations (users must know they are dealing with AI)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8794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86266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24085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4085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2570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Minimal risk — no additional obligation; voluntary codes of conduct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Classify the system FIRST — every downstream obligation follows from the risk tier.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T3 · WHAT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Pillars of Algorithmic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Transparency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Neither the affected person nor often the operator can see why the system produced its output — so the decision cannot be contested or corrected.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Algorithmic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Systematically unfair outcomes for particular groups, arising from data, objective or deployment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Data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Personal data is used for training or inference without a lawful basis, adequate safeguards or the individual's awareness.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governing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National AI policy — the EU AI Act, NIST AI 600-1, Canada's AIDA and Singapore's AI Verify / Model AI Governance Framework — each address these three pillars with different instruments.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LU1 · T3 · THE NON-NEGOTIABLE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ultimate safeguard requires a human in the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Automation is acceptable where the cost of an error is low and reversible. Where it is high-stakes and irreversible, a qualified human must remain accountable for the decision — not merely present to rubber-stamp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T3 · FROM OUTPUT TO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Human Oversight at the Decision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reviewer needs evidence, a clear decision right and a traceable record — not a ceremonial approval click.</a:t>
            </a:r>
          </a:p>
        </p:txBody>
      </p:sp>
      <p:pic>
        <p:nvPicPr>
          <p:cNvPr id="8" name="Picture 7" descr="human-oversight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392550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T4 · PROFESSIONAL SCEPTICISM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Automation Bias — The Vulnerability in the Human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Human oversight fails predictably when people defer to a confident machine.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tendency to over-trust an automated system — accepting its output without the scrutiny you would apply to a human colleague's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Why it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Fluency reads as competence. AI output is grammatical, confident and well-formatted, and those cues are the ones humans use to judge reliability.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How it compounds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Time pressure, high volume and a good track record all reduce checking — so the review becomes a formality exactly as the system's errors become rarer and harder to spot.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counter-measure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Structured verification: check the claim against the source, not against your impression of the output. Verify names, numbers, citations and dates independently every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In-Class Activities — Ethical Principles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43656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Ethical Dilemma Simulator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Ethical Principles Quiz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2648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2648" y="1783080"/>
            <a:ext cx="3343656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1248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1248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Prompt Injection Playground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Ethical Decision-Making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8056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8056" y="1783080"/>
            <a:ext cx="334365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6656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Activities 5–6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656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Output Scepticism Checker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Cognitive Threat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Ethical Dilemma Simulator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Work through six real-world AI dilemmas — from AI-generated hospital discharge summaries to resume-screening bias — choosing the most defensible course of action in each and reading the consequences of the choice you made.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dilemma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Choose a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Study the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Repeat across 6 domains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Record your score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completed 6-scenario run with your score out of 6 and notes on the stakeholders and ethical principles at stake in each dilemma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Ethical Principles Quiz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Test your grasp of the principles that underpin trustworthy AI — fairness, transparency, accountability, privacy, beneficence and human agency — across ten applied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Answer 10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each explanation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Track correct / incorrect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Review your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Retake the weak areas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completed 10-question quiz with your score and the live Correct / Incorrect counters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Prompt Injection Playground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Attack three simulated AI assistants — an undefended customer-service bot, a banking assistant with basic defences and a medical triage AI with strong defences — and see which injections get through each layer of protection.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Learn the attack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Attack Level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Escalate to Level 2 &amp;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each verdict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Record the scoreboard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 Attack Scoreboard showing your total attempts, successful injections, success rate and which of the three scenarios you breached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Ethical Decision-Making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Take one contested AI deployment through a six-stage structured ethical analysis — scenario, stakeholders, risks, principles, alternatives, decision — and produce a defensible, documented recommendation rather than a gut reaction.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Define the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stakeholders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Weigh risks &amp; benefits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the principles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Decide &amp; plan monitoring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printed 'Ethical Decision Analysis Summary' report with all eight sections completed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Output Scepticism Checker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Evaluate confident, fluent, and quietly wrong AI-generated text against a 16-point scepticism checklist, and score how far it can actually be trusted.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AI-generated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Work the 16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Set each severity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Calculate the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recommendations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scepticism score out of 100 with a risk verdict and the recommendations list for the text you assessed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Cognitive Threat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Pair a human cognitive bias with the AI failure mode it amplifies — automation bias with hallucination, confirmation bias with skewed data — and generate a structured risk analysis of a scenario from your own workplace.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Enter your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Pick a threat pairing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or write a scenario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Generate the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Extract the mitigations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five-part AI risk analysis covering scenario overview, the bias at play, risk escalation, real-world impact and mitigation strategies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OPEN THE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Links — Ethical Principles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10634472" cy="6492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47088"/>
            <a:ext cx="91440" cy="649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47088"/>
            <a:ext cx="4114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1 · AI Ethical Dilemma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847088"/>
            <a:ext cx="589788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2"/>
              </a:rPr>
              <a:t>https://tertiarycourses.github.io/TGS-2025060472-Responsible-Generative-AI-Basics/labs/lu1-ethical-principles/ethical-dilemma/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87752"/>
            <a:ext cx="10634472" cy="6492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587752"/>
            <a:ext cx="91440" cy="649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587752"/>
            <a:ext cx="4114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2 · AI Ethical Principles Quiz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587752"/>
            <a:ext cx="589788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3"/>
              </a:rPr>
              <a:t>https://tertiarycourses.github.io/TGS-2025060472-Responsible-Generative-AI-Basics/labs/lu1-ethical-principles/principles-quiz/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328416"/>
            <a:ext cx="10634472" cy="6492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28416"/>
            <a:ext cx="91440" cy="649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328416"/>
            <a:ext cx="4114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3 · Prompt Injection Playground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328416"/>
            <a:ext cx="589788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4"/>
              </a:rPr>
              <a:t>https://tertiarycourses.github.io/TGS-2025060472-Responsible-Generative-AI-Basics/labs/lu1-ethical-principles/prompt-injection/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69080"/>
            <a:ext cx="10634472" cy="6492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69080"/>
            <a:ext cx="91440" cy="649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69080"/>
            <a:ext cx="4114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4 · Ethical Decision-Making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069080"/>
            <a:ext cx="589788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5"/>
              </a:rPr>
              <a:t>https://tertiarycourses.github.io/TGS-2025060472-Responsible-Generative-AI-Basics/labs/lu1-ethical-principles/decision-framework/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809744"/>
            <a:ext cx="10634472" cy="6492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809744"/>
            <a:ext cx="91440" cy="649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809744"/>
            <a:ext cx="4114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5 · AI Output Scepticism Checker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809744"/>
            <a:ext cx="589788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6"/>
              </a:rPr>
              <a:t>https://tertiarycourses.github.io/TGS-2025060472-Responsible-Generative-AI-Basics/labs/lu1-ethical-principles/skepticism-checker/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550408"/>
            <a:ext cx="10634472" cy="64922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550408"/>
            <a:ext cx="91440" cy="649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550408"/>
            <a:ext cx="4114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6 · The Cognitive Threat Matrix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5550408"/>
            <a:ext cx="589788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7"/>
              </a:rPr>
              <a:t>https://tertiarycourses.github.io/TGS-2025060472-Responsible-Generative-AI-Basics/labs/lu1-ethical-principles/cognitive-threat-matrix/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Ethical Principles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Ethical Dilemma Simulator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Recognise the ethical considerations and potential risks that arise when interacting with generative AI (K2).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Ethical Principles Quiz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Identify and apply the core ethical principles in AI (K4).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Prompt Injection Playground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Explain how prompt injection threatens AI safety and how layered defences reduce the risk (K2).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Ethical Decision-Making Framework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Apply ethical principles systematically in decision-making related to AI (A1).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Output Scepticism Checker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Exercise professional scepticism to exercise sound judgement on generative AI output (A2).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Cognitive Threat Matrix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Analyse how human cognitive bias combines with generative AI failure modes to escalate risk (K2, A2).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Generative AI Privacy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Anonymisation &amp; De-identification · Privacy Measures in Practice · Ethical Data Guidelines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Generative AI Privacy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Anonymisation irreversibly severs the link to an individual; pseudonymisation only replaces identifiers and remains personal data under the PDPA and GDPR.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K-anonymity guarantees an individual cannot be distinguished from at least k-1 others by generalising or suppressing quasi-identifiers.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Release-based privacy fails when an attacker holds external auxiliary data — the re-identification attack that motivated stronger, computation-based guarantees.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three layers of AI data security are the pipeline (encryption in transit and at rest), the model (training and memorisation controls) and the output (filtering).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Format-preserving encryption and data-shifting keep a field usable by downstream systems while removing its identifying power.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ethical AI data policy classifies data as prohibited, restricted or permitted for AI input, and pairs each class with a mandated safeguard.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T1 · THE DISTINCTION THAT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The Legal Baseline — Anonymisation vs Pseudonymisation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Getting this wrong is the single most common privacy compliance error in AI projects.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Pseudonymisation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Anonymisation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 it does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Replaces identifiers with a token or key; the link to the individual is retained somewhere.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Irreversibly severs the link — no key exists that can restore identity.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Reversible?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Yes — by anyone holding the mapping key.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 — by design, not by policy.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Still personal data?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YES. Remains fully in scope of the PDPA and GDPR, with all obligations intact.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No. Out of scope, because there is no longer an identifiable individual.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Typical 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Internal analytics where re-identification must remain possible for legitimate operational reasons.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Publishing, external sharing, or training data where re-identification must be impossible.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T1 · GENERALISE UNTIL INDISTINGUISHABLE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Mechanics of K-Anonymity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Guaranteeing an individual cannot be distinguished from at least k-1 others.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41424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1424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direct identifiers (name, NRIC, email) and remove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8841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0497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0497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2617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quasi-identifiers (age, postcode, gender) that combine to re-identify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7914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19570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9570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1690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Generalise values — exact age becomes an age band, postcode loses digits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6987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08643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8643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0763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Suppress records that remain unique even after generalisation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6060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97716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7716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9836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every combination of quasi-identifiers appears at least k times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Its limit: k-anonymity fails when the attacker holds external auxiliary data, or when every record in a group shares the same sensitive value.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T2 · DEFENCE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Layers of AI Data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Protecting data in an AI system means protecting it at rest, in computation and at output.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Layer 1 — The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Encryption in transit and at rest; access control; format-preserving encryption so a field stays usable by downstream systems while losing its identifying power; data shifting and masking.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Layer 2 — The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Controls on what enters training; the training paradox of balancing data utility against data privacy; differential privacy and DP-SGD to bound what any one record can contribute.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Layer 3 — The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Output filtering to catch memorised training data; guarding against LLM memorisation, where a model reproduces verbatim sensitive strings it saw during training.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governance wrapper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Know your tools · establish policy · lock down inputs · understand external threats · update training · review vendors · plan for incidents.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T2 · REMOVE · GROUP · PROTECT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Privacy Protection Is a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 single control is enough: privacy improves as identifiers are removed, records are protected and outputs are bounded.</a:t>
            </a:r>
          </a:p>
        </p:txBody>
      </p:sp>
      <p:pic>
        <p:nvPicPr>
          <p:cNvPr id="8" name="Picture 7" descr="privacy-pipeline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392550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T2 · THE OPERATIONAL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7-Step Governance Checklist for AI Adoption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This checklist is directly assessable — you should be able to reproduce all seven 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83896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67128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1 · Know your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Inventory every AI tool actually in use, including the shadow IT that staff adopted without approval.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83896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167128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2 · Establish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514600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Classify data as prohibited, restricted or permitted for AI, and publish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134106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134106"/>
            <a:ext cx="91440" cy="83896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243834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3 · Lock down 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91306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Anonymise or mask data before anything reaches a model.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3134106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134106"/>
            <a:ext cx="91440" cy="83896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3243834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4 · Understand external threats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3591306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Prompt injection, data exfiltration, model extraction and vendor breach.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10812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210812"/>
            <a:ext cx="91440" cy="83896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320540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5 · Update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668012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Staff must know the limits of the tools they are given.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1636" y="4210812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1636" y="4210812"/>
            <a:ext cx="91440" cy="83896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5956" y="4320540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6 · Review vendors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5956" y="4668012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Retention, training use, sub-processors, jurisdiction and incident history.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287518"/>
            <a:ext cx="5180076" cy="83896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287518"/>
            <a:ext cx="91440" cy="83896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397246"/>
            <a:ext cx="46771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7 · Plan for incidents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744718"/>
            <a:ext cx="4677156" cy="308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Detection, reporting deadline, assessment, notification and remediation.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T1 · TECHNIQUE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Choosing the Right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Each technique buys a different guarantee at a different cost to utility.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Protects against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Masking / redaction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Casual inspection of directly identifying fields.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Cheap and fast, but destroys the field's analytical value entirely.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273552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73552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K-anonymity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Singling out an individual from quasi-identifiers.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Moderate loss of granularity; fails against auxiliary-data attacks.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86784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86784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Differential privacy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Inferring whether any individual was in the dataset at all.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Adds calibrated noise — a formal guarantee paid for in accuracy.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700016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700016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Homomorphic encryption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Exposure during computation — data never decrypted to be processed.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Strongest guarantee, but computationally very slow.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413248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13248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Synthetic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90672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Direct exposure of any real record.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8896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33488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Useful when masking destroys utility; fidelity and residual leakage must be validated.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T3 · THE EXECUTIVE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Designing an Ethical AI Data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Classify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Sort every data category into PROHIBITED (never enters an AI tool), RESTRICTED (only with safeguards) and PERMITTED (freely usable).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582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3582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Comply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3582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Name the regimes that bind you — PDPA as the Singapore baseline, plus GDPR, HIPAA or the EU AI Act where applicable.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9924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9924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Safeguard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9924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Mandate the specific controls: anonymisation before input, encryption, role-based access, audit logging and human review of outputs.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6266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6266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Respond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6266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detection, a reporting deadline, severity assessment, notification and a post-incident review that updates the policy.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440680"/>
            <a:ext cx="10634472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440680"/>
            <a:ext cx="91440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4068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Trust is engineered, not accidental — a policy nobody can follow protects nobody.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In-Class Activities — Generative AI Privacy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7–8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 Anonymisation Techniques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Python Data Anonymisation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9–9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Ethical AI Data Policy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Anonymisation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Run one set of sensitive records through four different anonymisation techniques side by side, and see why only some of them actually remove the re-identification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Enter your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Generate sample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all 4 techniques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the techniques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the reviewers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side-by-side comparison table showing the same record under all four techniques, including three different reviewers' subjective judgements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Data Anonymisation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Build a seven-stage anonymisation pipeline over a raw dataset — pseudo-IDs, text shifting, masking, generalisation and column dropping — then export both the anonymised data and the Python code that produced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a raw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 the techniques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the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Export CSV + code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 exported anonymised CSV plus the generated Python script implementing your chosen techniques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Ethical AI Data Policy Generator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Produce a complete, organisation-specific AI data-handling policy through a guided five-step wizard — the document that tells your colleagues what they may and may not paste into an AI tool.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Profile the organisation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Classify the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 the regulations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Choose the safeguards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Generate &amp; print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printed seven-section 'AI Data Handling Policy' tailored to your organisation, sector and risk tolerance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OPEN THE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Links — Generative AI Privacy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10634472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47088"/>
            <a:ext cx="91440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47088"/>
            <a:ext cx="411480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7 · Data Anonymisation Techniques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847088"/>
            <a:ext cx="589788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2"/>
              </a:rPr>
              <a:t>https://tertiarycourses.github.io/TGS-2025060472-Responsible-Generative-AI-Basics/labs/lu2-privacy/dataprivacy/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28416"/>
            <a:ext cx="10634472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328416"/>
            <a:ext cx="91440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28416"/>
            <a:ext cx="411480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8 · Python Data Anonymisation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328416"/>
            <a:ext cx="589788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3"/>
              </a:rPr>
              <a:t>https://tertiarycourses.github.io/TGS-2025060472-Responsible-Generative-AI-Basics/labs/lu2-privacy/anonymizer-python/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809744"/>
            <a:ext cx="10634472" cy="13898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809744"/>
            <a:ext cx="91440" cy="13898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809744"/>
            <a:ext cx="411480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9 · Ethical AI Data Policy Generator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4809744"/>
            <a:ext cx="5897880" cy="1389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4"/>
              </a:rPr>
              <a:t>https://tertiarycourses.github.io/TGS-2025060472-Responsible-Generative-AI-Basics/labs/lu2-privacy/privacy-policy/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Generative AI Privacy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Anonymisation Techniques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Distinguish the anonymisation spectrum — de-identification, pseudonymisation, objective and subjective anonymisation (K1).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Python Data Anonymisation Pipeline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Apply privacy measures when handling data for AI applications by building an anonymisation pipeline (A3).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Ethical AI Data Policy Generator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Design guidelines or strategies for ethical AI use, including use of sensitive data in generative AI tools (A4).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Best Practices of Responsible 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Responsible AI Principles · Comparing AI Systems · Comparing Ethical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Best Practices of 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EU AI Act regulates by risk tier — unacceptable, high, limited and minimal — with obligations that scale to the harm the system can cause.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ISO/IEC 42005:2025 gives an internal, non-certifiable structure for assessing an AI system's impact on individuals, groups and society across its lifecycle.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Differential privacy is a mathematical guarantee: the output does not reveal whether any single individual's record was in the dataset, tuned by the epsilon budget.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Comparing AI systems responsibly means scoring them on intellectual property provenance, data privacy posture and environmental cost — not accuracy alone.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'Green AI' routes appropriate tasks to small language models, cutting energy and cost against the 'Red AI' default of always using the largest frontier model.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Explainability trades off against raw accuracy; XAI frameworks such as SHAP and LIME recover interpretability where the decision affects people's lives.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T1 · WHAT RESPONSIBLE DEPLOYMENT REQUIRES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Pillars of Safe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Intellectual property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Was the training data licensed? Who owns the output? Getty Images v Stability AI put provenance of training data at the centre of the question.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Data 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personal data entered the model, under what lawful basis, and can it be extracted again through memorisation?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Environmental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Energy, water and carbon per training run and per inference — the cost that scales with every user you add.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unifying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Responsible comparison scores systems on all three, not on benchmark accuracy alone. A more accurate model with unlicensed training data and no privacy posture is not the better choice.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T1 · EVIDENCE-BASED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AI Systems on More Than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responsible choice balances privacy, intellectual property, fairness, energy use, accountability and explainability.</a:t>
            </a:r>
          </a:p>
        </p:txBody>
      </p:sp>
      <p:pic>
        <p:nvPicPr>
          <p:cNvPr id="8" name="Picture 7" descr="ai-system-comparison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392550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LU3 · T1 · IMPACT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ISO/IEC 42005 — The Assessment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ISO/IEC 42005:2025 — internal guidance for assessing an AI system's impact on individuals, groups and society. Not a certification standard; you do not need an external auditor.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9002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9002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scope, purpose and the context of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3996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1468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1468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83230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3230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7772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affected individuals, groups and society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25696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25696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07458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7458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 potential harms and benefits across the lifecycle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2452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9924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49924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31686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1686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6228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Determine controls and mitigations for each identified harm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4152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74152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55914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5914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0456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Document the assessment and its residual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0908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98380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98380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80142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80142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4684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and re-assess when the system or its context changes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 it internally to bring structure to how consequences are evaluated — from planning and design through deployment and monitoring.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T1 · THE PRIVACY-UTILITY DIAL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Differential Privacy — The Epsilon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Epsilon (ε) quantifies privacy loss: lower means stronger privacy and noisier answers.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330098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F6FEB"/>
                </a:solidFill>
                <a:latin typeface="Arial"/>
              </a:rPr>
              <a:t>ε ≤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Strong privacy — high noise, suitable for publishing sensitive statistics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4" y="2240280"/>
            <a:ext cx="330098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0B981"/>
                </a:solidFill>
                <a:latin typeface="Arial"/>
              </a:rPr>
              <a:t>ε ≈ 1–10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Moderate — the practical working range for most deployed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2240280"/>
            <a:ext cx="3300984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7C3AED"/>
                </a:solidFill>
                <a:latin typeface="Arial"/>
              </a:rPr>
              <a:t>ε &gt;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Weak — the formal guarantee becomes close to meaningless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349240"/>
            <a:ext cx="10634472" cy="777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34924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3492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DP-SGD applies this during training: clip each example's gradient to bound its influence, then add calibrated noise — so no single person's data can be recovered from the model.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T2 · THE GLOBAL REGULATORY FRACTURE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Comparison of AI Regulations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There is no single global AI regime — comparing systems means comparing against several.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Binding force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EU AI 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Risk-tiered: prohibited, high, limited and minimal risk, with obligations scaled to the tier.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Binding law with substantial financial penalties.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NIST AI 600-1 (US)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companion to the AI Risk Management Framework addressing risks specific to generative AI.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Voluntary framework; influential in procurement and practice.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Canada AIDA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Focused on 'high-impact' systems, with obligations on assessment and mitigation.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Proposed legislation.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Singapore AI Verify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Testing framework of 11 principles across process checks and technical tests, with the Model AI Governance Framework.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Voluntary, industry-led; the practical baseline for Singapore organisations.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T2 · THE ENVIRONMENTAL TOLL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Red AI vs Green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Task alignment — routing work to the smallest model that can do it — is the single largest lever on AI's environmental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'Red AI' — frontier by default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'Green AI' — right-sized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Model choice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Always the largest available frontier model, regardless of task difficulty.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small language model (SLM) for well-scoped, repetitive tasks; frontier models reserved for genuinely hard ones.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Energy per query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Orders of magnitude higher; every user added multiplies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Dramatically lower, and often runs on local or modest hardware.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&amp; latency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Highest cost per call and slower responses.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Cheaper and faster — the business case usually aligns with the green case.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When justified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Open-ended reasoning, novel synthesis, complex multi-step work.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Classification, extraction, routing, summarisation, structured formatting.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T2 · THE TRANSPARENCY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Openness Does Not Equal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'Open-weights' is a licence claim, not a disclosure of how the system was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is usually disclosed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Model weights, an architecture description, an inference licence and benchmark scores.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What usually is 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training-data composition and provenance, the data-filtering decisions, the human feedback process and the evaluation failures.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Why it matters for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 cannot assess IP provenance or privacy risk from weights alone — the questions a regulator asks concern the data, not the parameters.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What to ask a vendor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 provenance and licensing; retention and training use of your inputs; published evaluation results including failures; incident history and escalation path.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T3 · DEMYSTIFYING THE BLACK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The Technical Trade-off — Accuracy vs Interpretability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more capable the model, the harder it is to explain — and explanation is often a legal requirement.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Interpretable by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Black box + post-hoc XAI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Linear and logistic regression, decision trees, rule lists.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Deep neural networks, gradient-boosted ensembles, large language models.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model IS the explanation — you can read the coefficients or the tree.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Requires SHAP or LIME to approximate why a particular decision was made.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Trade-off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Lower ceiling on accuracy for complex, high-dimensional problems.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Higher accuracy, but the explanation is an approximation, not the mechanism.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Where each fits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Regulated, contestable decisions — credit, hiring, benefits, sentencing.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Perception, language and pattern tasks — with XAI bolted on where decisions affect people.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T3 · TWO WAYS TO EXPLAIN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LIME vs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SHAP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Fits a simple interpretable model locally around the one prediction being explained.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Shapley values from cooperative game theory — each feature's fair share of the outcome.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Stochastic — re-running gives slightly different values each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Deterministic and additive — the contributions sum exactly to the prediction.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Speed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Fast; practical for quick, local inspection.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Slower; exact computation is expensive for large models.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Rapid, intuitive checks on individual predictions during development.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Explanations that must be defended to a regulator, an auditor or the affected person.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T3 · HIGH-STAKES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The Anatomy of Algorithmic Discrimination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same failure pattern recurs across documented cases in hiring, credit, health and policing.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Amazon's recruiting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Trained on ten years of predominantly male hires; learned to penalise resumes containing signals of being a woman. Withdrawn.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Apple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Couples with shared finances received markedly different credit limits; neither the operator nor the issuer could explain the decisions.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IBM Watson for Oncology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Recommended unsafe treatments; trained substantially on synthetic cases rather than real patient outcomes.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Clearview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75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Scraped billions of facial images without consent to build an identification service sold to law enforcement.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LU3 · T3 · THE ULTIMATE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Ethical AI is not a roadblock to innovation — it is the prerequisite.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Cost reduction must advance alongside accessibility and quality. A system that is cheaper and faster but unfair, opaque or unsafe has not improved anything that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In-Class Activities — Best Practices of 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43656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10–11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System Comparison Matrix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Differential Privacy Explorer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2648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2648" y="1783080"/>
            <a:ext cx="3343656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1248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12–13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1248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Explainable AI (XAI) Explorer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Ethical Paradigms of AI Resource Allocation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8056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8056" y="1783080"/>
            <a:ext cx="334365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6656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Activities 14–14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656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Ethics Case Study Analyzer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System Comparison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Score ChatGPT, Claude and Gemini across five responsibility dimensions and plot them on a radar chart — turning 'which AI should we use?' into an evidence-based comparison rather than a brand preference.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Score ChatGPT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Score Claude &amp; 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a 4th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Update the chart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radar &amp; 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radar comparison chart and scored comparison table ranking at least three AI systems by overall average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Differential Privacy Explorer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Turn the epsilon dial and watch the privacy-utility trade-off happen in front of you — strong privacy makes the answer noisy, weak privacy makes it accurate but leaks.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at epsilon 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low vs 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Try randomised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Spend the budget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Exhaust the budget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set of query results at three different epsilon values plus a spent privacy budget showing how many queries a dataset can safely answer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Explainable AI (XAI) Explorer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the black box on a loan-approval model: adjust an applicant's profile, watch the decision flip, and compare how LIME and SHAP each explain why.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a borderline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Flip the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LIME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SHAP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side by side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LIME and SHAP explanations for the same borderline applicant, plus the side-by-side comparison of the two methods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The Ethical Paradigms of AI Resource Allocation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Allocate a scarce resource — 50 treatments among 120 eligible patients — three times over, once under each ethical paradigm, and confront the fact that all three are defensible and they disagree about who lives.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Study the 3 paradigms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the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all 3 allocations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the outcomes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Justify your choice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Three allocation results for the same scenario under the Utilitarian, Egalitarian and Prioritarian paradigms, with your own written justification of which is most appropriate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Ethics Case Study Analyzer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Analyse documented AI ethics failures — IBM Watson for Oncology, the Apple Card credit investigation, Amazon's recruiting tool, Clearview AI — and propose the remediation that should have been in 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Filter to your sector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the issues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Propose remediation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Find the pattern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written analysis of at least one case identifying its ethical issues and your proposed remediation, compared against an AI critique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OPEN THE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Links — Best Practices of 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10634472" cy="7973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47088"/>
            <a:ext cx="91440" cy="7973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47088"/>
            <a:ext cx="411480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10 · AI System Comparison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847088"/>
            <a:ext cx="589788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2"/>
              </a:rPr>
              <a:t>https://tertiarycourses.github.io/TGS-2025060472-Responsible-Generative-AI-Basics/labs/lu3-best-practices/ai-comparison/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35884"/>
            <a:ext cx="10634472" cy="7973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35884"/>
            <a:ext cx="91440" cy="7973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35884"/>
            <a:ext cx="411480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11 · Differential Privacy Explorer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735884"/>
            <a:ext cx="589788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3"/>
              </a:rPr>
              <a:t>https://tertiarycourses.github.io/TGS-2025060472-Responsible-Generative-AI-Basics/labs/lu3-best-practices/differential-privacy/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624680"/>
            <a:ext cx="10634472" cy="7973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624680"/>
            <a:ext cx="91440" cy="7973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624680"/>
            <a:ext cx="411480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12 · Explainable AI (XAI) Explorer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624680"/>
            <a:ext cx="589788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4"/>
              </a:rPr>
              <a:t>https://tertiarycourses.github.io/TGS-2025060472-Responsible-Generative-AI-Basics/labs/lu3-best-practices/xai-explorer/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513476"/>
            <a:ext cx="10634472" cy="7973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513476"/>
            <a:ext cx="91440" cy="7973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513476"/>
            <a:ext cx="411480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13 · The Ethical Paradigms of AI Resource Allocation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513476"/>
            <a:ext cx="589788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5"/>
              </a:rPr>
              <a:t>https://tertiarycourses.github.io/TGS-2025060472-Responsible-Generative-AI-Basics/labs/lu3-best-practices/ai-resource-allocation/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402272"/>
            <a:ext cx="10634472" cy="79735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5402272"/>
            <a:ext cx="91440" cy="7973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402272"/>
            <a:ext cx="411480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Activity 14 · AI Ethics Case Study Analyzer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5402272"/>
            <a:ext cx="5897880" cy="7973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1F6FEB"/>
                </a:solidFill>
                <a:latin typeface="Arial"/>
                <a:hlinkClick r:id="rId6"/>
              </a:rPr>
              <a:t>https://tertiarycourses.github.io/TGS-2025060472-Responsible-Generative-AI-Basics/labs/lu3-best-practices/ethics-case-study/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Best Practices of 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System Comparison Matrix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Compare AI systems on intellectual property, data privacy and environmental impact (A5).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Differential Privacy Explorer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Explain how differential privacy protects individuals and the privacy-utility trade-off it imposes (K1, K3).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Explainable AI (XAI) Explorer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Compare explainability techniques and the accuracy-interpretability trade-off (K3, A6).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Ethical Paradigms of AI Resource Allocation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Compare ethical issues in AI applications across competing ethical frameworks (A6).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Ethics Case Study Analyzer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Identify ethical issues in real AI deployments and propose remediation (A6, A1).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Ethical Reasoning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Assessed generative AI outputs against ethical principles, exercised professional scepticism and made documented, defensible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Privacy Safeguards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Applied anonymisation, de-identification and secure-storage measures, and designed an ethical AI data policy.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Ethical Comparison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Compared AI systems on intellectual property, data privacy and environmental impact, and analysed real ethical failures.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Written Assessment (WA, SAQ) — 30 minutes, covering K1–K4.  Case Study (CS) — 30 minutes, covering A1–A6.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book: slides, Learner Guide and approved materials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Remember to complete the TRAQOM survey and take the Assessment digital attendance (two separate steps).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Submit your completed answers on the LMS at https://lms-tms.tertiaryinfotech.com/.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(SAQ) then the Case Study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82496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AT THE NEXT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question a confident machine, protect the data you feed it, and compare AI systems on more than accuracy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