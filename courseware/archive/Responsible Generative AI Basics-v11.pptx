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784080" y="658368"/>
            <a:ext cx="16916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822960"/>
            <a:ext cx="1691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0" y="118872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COURSE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Responsible Generative AI Basics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TGS-2025060472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v11  ·  11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 / CREDENTIALS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PhD; 20+ years of training and industry experience in AI and 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responsible AI, generative AI practices, data analytics and machine learning.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Your name, organisation and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10712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Which generative AI tools you already use at work — and what you use them for.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46904"/>
            <a:ext cx="9427464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thing about AI that genuinely worries you.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Actively participate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Respect each other's views: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 for funding eligibility.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ACCREDITATION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Title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Responsible AI and Generative AI Practices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TSC Code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ICT-BAS-0055-1.1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Assessment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Written Assessment (SAQ) + Case Study — both open 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Structure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3 Learning Units (LU1–LU3), each mapped to a Learning Outcome.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3 LEARNING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LU1 — Ethical Principles of 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Risks of GenAI Interaction · Ethical Principles · Ethical Decision-Making · Professional Scepticism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LU2 — Generative AI Privacy Techniques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Anonymisation &amp; De-identification · Privacy Measures in Practice · Ethical Data Guidelines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LU3 — Best Practices of Responsible Generative AI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Responsible AI Principles · Comparing AI Systems · Comparing Ethical Issues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 &amp;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— 9:30am to 12:10pm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Welcome, ground rules and AM digital attendance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LU1: Ethical Principles of Generative AI (Activities 1–6)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Tea break at 11:05am; lunch 12:10–12:55pm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— 12:55pm to 7:05pm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LU1 concludes; LU2: Privacy Techniques (Activities 7–9)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LU3: Best Practices of Responsible GenAI (Activities 10–14)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Briefing 5:55pm; Assessment: WA (30 min) + Case Study (30 min), 6:05–7:05pm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45-minute lunch and two 10-minute tea breaks. Assessment is 1 hour in total.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Ethical Reasoning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ethical reasoning to assess generative AI outputs and guide responsible decision-making in AI implementation.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Privacy Safeguards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privacy safeguards to protect sensitive data used in generative AI through anonymisation and secure storage methods.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Ethical Comparison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 generative AI systems for ethical compliance based on intellectual property, privacy and environmental impact.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Place phones and other materials under the table or on the floor.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42616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photos or recording of assessment scripts.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discussion during the assessment.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178808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a black/blue pen for hard-copy assessments.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 liquid paper / correction tape.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15000"/>
            <a:ext cx="9427464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Scripts are collected when time is up.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Written Assessment (WA) — Short-Answer Questions (SAQ), 30 minutes, open book.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79623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Case Study (CS) — one continuous scenario with open-ended tasks, 30 minutes, open book.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1795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Format: Open Book — slides, Learner Guide and approved materials only.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39665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minimum of 75% attendance (per SSG Digital Attendance record) is required to be eligible for assessment and funding. Learners must be assessed as Competent in every K and A, and complete the TRAQOM survey.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61380"/>
            <a:ext cx="9427464" cy="53766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An appeal process is available if required.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KNOWLEDGE STATEMENTS · WA-SAQ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K1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anonymisation and de-identification techniques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63240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K2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Ethical considerations and potential risks of generative AI interaction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K3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Responsible AI principles and best practices for development and deployment, including intellectual property, data privacy and environmental impact considerations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67528"/>
            <a:ext cx="9427464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K4 — Written Assessment (SAQ)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Ethical principles in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ABILITY STATEMENTS · 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Assessed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A1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ethical principles in decision-making related to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79192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A2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Exercise professional scepticism to exercise sound judgement on Gen AI output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A3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privacy measures when handling data for AI applications (e.g., implement simple data anonymisation and de-identification techniques, secure data storage using basic encryption)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A4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Design guidelines or strategies for ethical AI use, including use of sensitive data in generative AI tools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A5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AI systems based on considerations such as compliance with intellectual property, data privacy and environmental impact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5157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A6 — Case Study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Compare ethical issues in AI applications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Everything for the open-book assessment — slides, Learner Guide and submissions — lives on the LMS.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48840"/>
            <a:ext cx="3749039" cy="3566160"/>
          </a:xfrm>
          <a:prstGeom prst="rect">
            <a:avLst/>
          </a:prstGeom>
          <a:solidFill>
            <a:srgbClr val="0F2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468880"/>
            <a:ext cx="502920" cy="502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0400"/>
            <a:ext cx="374903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Tertiary Infotech Academy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B8C7E0"/>
                </a:solidFill>
                <a:latin typeface="Arial"/>
              </a:rPr>
              <a:t>LMS and TMS for SSG courses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37360" y="4297680"/>
            <a:ext cx="1828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Sign in / OTP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029200"/>
            <a:ext cx="37490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9CDCFE"/>
                </a:solidFill>
                <a:latin typeface="Arial"/>
              </a:rPr>
              <a:t>lms-tms.tertiaryinfotech.com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2148840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00600" y="2148840"/>
            <a:ext cx="91440" cy="7406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0" y="229057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0" y="229057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2148840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Sign in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Log in with your registered email (OTP or password).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3090672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00600" y="3090672"/>
            <a:ext cx="91440" cy="7406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32404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3232404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090672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Download materials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4032504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00600" y="4032504"/>
            <a:ext cx="91440" cy="74066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0" y="417423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41742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0" y="4032504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Submit answers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Case Study answers on the LMS.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4974336"/>
            <a:ext cx="6611112" cy="74066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00600" y="4974336"/>
            <a:ext cx="91440" cy="7406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029200" y="5116068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0" y="511606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4974336"/>
            <a:ext cx="5559552" cy="740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TRAQOM survey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870448"/>
            <a:ext cx="10634472" cy="457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7240" y="5870448"/>
            <a:ext cx="9144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870448"/>
            <a:ext cx="10058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Ethical Principles of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Risks of GenAI Interaction · Ethical Principles · Ethical Decision-Making · Professional Scepticism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Generative AI carries hidden costs beyond the subscription fee: environmental load (energy, water, carbon), security exposure, and psychological or societal impact on the people who use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Deepfakes, voice cloning and face-swapping have made synthetic media cheap and convincing — eroding the assumption that seeing is believing.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AI bias is not a single defect: it is introduced through the training data, the model objective, and the deployment context, and it compounds at each stage.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Singapore's AI Verify framework defines 11 principles of trustworthy AI, split into process checks and technical tests, and is operationalised through Project Moonshot.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Applying ethics in practice means stratifying risk (EU AI Act), keeping a human in the loop for high-stakes decisions, and engineering ethics into the design, not bolting it 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scepticism is the discipline of verifying GenAI output against source evidence — the antidote to automation bias, where people defer to a confident machine.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BEYOND THE SUBSCRIPTION FEE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Hidden Costs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Every prompt has costs that never appear on the invoice.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Environmental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Training and inference consume electricity, fresh water for cooling and embodied carbon in the hardware. A single large model's training run can emit as much CO2 as several cars over their lifetime.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pasted into a public AI tool may be retained, used for training or exposed. AI also widens the attack surface — prompt injection, model extraction and data leakage are new classes of vulnerability.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Psychological &amp; Societal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Increasing dependence on AI, AI as a social and emotional companion, and the erosion of the human capacity to judge — the 'human filter' degrades the more it is bypassed.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Epistemic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Deepfakes, voice cloning and synthetic media are now cheap and convincing, dissolving the shared assumption that a recording is evidence of anything.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THE SCALE OF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Why GenAI Risk Is Not Hypothetical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gap between how fast AI is adopted and how fast it is governed is where risk lives.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98%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Accuracy can still mean a life-threatening error in the 2% — accuracy is not safety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Layers where bias enters: the training data, the model objective, the deployment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Principles of trustworthy AI defined by Singapore's AI Verify framework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High accuracy on average says nothing about who bears the error. Always ask: who is in the 2%?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T1 · WHERE BIAS ENTERS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Deconstruction of AI Bias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Bias is not one defect to be patched — it is introduced at three separate stages and compounds.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How it enters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What it produces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bias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Training data over-represents some groups and under-represents others; historical records encode past discrimination.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that is systematically less accurate for under-represented groups.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749040"/>
            <a:ext cx="2148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4904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Objective bias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749040"/>
            <a:ext cx="42428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74904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metric the model optimises (clicks, cost, speed) is a proxy for what we actually care about (welfare, fairness, safety).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749040"/>
            <a:ext cx="4242816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74904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model that optimises the proxy perfectly while defeating the real goal.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937760"/>
            <a:ext cx="2148840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37760"/>
            <a:ext cx="18745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Deployment bias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93776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93776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system is used on a population, or for a purpose, different from the one it was built and validated for.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937760"/>
            <a:ext cx="4242816" cy="118872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937760"/>
            <a:ext cx="3913632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Confident predictions in a context where the model was never tested.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11 PRINCIPLES, 2 ZONES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Verify — Singapore's Testing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AI Verify splits the 11 principles by how each can actually be evidenced. aiverifyfoundation.sg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Zone 1 — Process checks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Transparency · Reproducibility · Safety · Security · Data Governance · Accountability · Human Agency &amp; Oversight · Inclusive Growth &amp; Societal Impact. Evidenced through standardised checklists, documentation and governance frameworks.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Zone 2 — Technical tests + process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Fairness · Explainability · Robustness. Evidenced through black-box technical testing on model inputs and outputs, supported by quantitative toolkits.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Why the split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cannot unit-test accountability, and you cannot govern robustness with a policy document alone. The framework integrates technical validation (TEVV) directly with process governance.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Project Moonshot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open-source companion toolkit that operationalises the testing — benchmarking, red-teaming and baseline testing for LLM applications. github.com/aiverify-foundation/moonshot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T2 · RISK →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GenAI Risk Diagnostic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GenAI risk category has a distinct testing target — you cannot test them all the same way.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Output testing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Component testing target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Hallucination &amp; inaccuracy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Domain knowledge; out-of-domain handling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Retrieval-Augmented Generation (RAG)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Bias in decision making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Parity metrics; counterfactual checks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Model, system prompt, input filters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Undesirable content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Content type; elicitation rate; helpfulness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Data leakage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Data type leaked; ease of elicitation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Adversarial prompts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vs indirect prompt injection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Input &amp; output filters; system prompt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LU1 · T3 · RISK-BASED REGULATION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EU AI Act Compliance Waterfall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EU AI Act regulates by the risk a system poses, not by the technology it uses.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615059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5059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Unacceptable risk — prohibited outright (social scoring, manipulative systems)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6611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13582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13582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351401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1401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9886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 risk — conformity assessment, risk management, human oversight, logging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9924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9924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87743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77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6228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Limited risk — transparency obligations (users must know they are dealing with 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3879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86266" y="2240280"/>
            <a:ext cx="2425446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86266" y="2240280"/>
            <a:ext cx="242544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4085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4085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32570" y="3566160"/>
            <a:ext cx="2132838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Minimal risk — no additional obligation; voluntary codes of conduct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Classify the system FIRST — every downstream obligation follows from the risk tier.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T3 ·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Pillars of Algorithmic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Transparency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Neither the affected person nor often the operator can see why the system produced its output — so the decision cannot be contested or corrected.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Algorithmic bias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Systematically unfair outcomes for particular groups, arising from data, objective or deployment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Data privacy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Personal data is used for training or inference without a lawful basis, adequate safeguards or the individual's awareness.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governing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National AI policy — the EU AI Act, NIST AI 600-1, Canada's AIDA and Singapore's AI Verify / Model AI Governance Framework — each address these three pillars with different instruments.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LU1 · T3 · THE NON-NEGOTIABLE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The ultimate safeguard requires a human in the loop.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Automation is acceptable where the cost of an error is low and reversible. Where it is high-stakes and irreversible, a qualified human must remain accountable for the decision — not merely present to rubber-stamp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T4 · PROFESSIONAL SCEPTICISM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Automation Bias — The Vulnerability in the Human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Human oversight fails predictably when people defer to a confident machine.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it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tendency to over-trust an automated system — accepting its output without the scrutiny you would apply to a human colleague's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happens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Fluency reads as competence. AI output is grammatical, confident and well-formatted, and those cues are the ones humans use to judge reliability.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How it compounds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Time pressure, high volume and a good track record all reduce checking — so the review becomes a formality exactly as the system's errors become rarer and harder to spot.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counter-measure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Structured verification: check the claim against the source, not against your impression of the output. Verify names, numbers, citations and dates independently every time.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Ethical Dilemma Simulator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Ethical Principles Quiz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3–4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Prompt Injection Playground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Ethical Decision-Making Framework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5–6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Output Scepticism Checker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Cognitive Threat Matrix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Ethical Dilemma Simulator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Work through six real-world AI dilemmas — from AI-generated hospital discharge summaries to resume-screening bias — choosing the most defensible course of action in each and reading the consequences of the choice you made.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dilemma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a response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Study the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Repeat across 6 domains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your score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6-scenario run with your score out of 6 and notes on the stakeholders and ethical principles at stake in each dilemma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Ethical Principles Quiz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Test your grasp of the principles that underpin trustworthy AI — fairness, transparency, accountability, privacy, beneficence and human agency — across ten applied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Answer 10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each explanation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Track correct / incorrect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Review your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Retake the weak areas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completed 10-question quiz with your score and the live Correct / Incorrect counters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Prompt Injection Playground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Attack three simulated AI assistants — an undefended customer-service bot, a banking assistant with basic defences and a medical triage AI with strong defences — and see which injections get through each layer of protection.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Learn the attack types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Attack Level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Escalate to Level 2 &amp;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each verdict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Record the scoreboard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Attack Scoreboard showing your total attempts, successful injections, success rate and which of the three scenarios you breached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Ethical Decision-Making Framework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Take one contested AI deployment through a six-stage structured ethical analysis — scenario, stakeholders, risks, principles, alternatives, decision — and produce a defensible, documented recommendation rather than a gut reaction.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Define the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Map stakeholders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Weigh risks &amp; 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the principles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Decide &amp; plan monitoring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printed 'Ethical Decision Analysis Summary' report with all eight sections completed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Output Scepticism Checker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Evaluate confident, fluent, and quietly wrong AI-generated text against a 16-point scepticism checklist, and score how far it can actually be trusted.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AI-generated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Work the 16 checks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Set each severity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Calculate the score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recommendations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scepticism score out of 100 with a risk verdict and the recommendations list for the text you assessed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10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LU1 · ACTIVITY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Cognitive Threat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 a human cognitive bias with the AI failure mode it amplifies — automation bias with hallucination, confirmation bias with skewed data — and generate a structured risk analysis of a scenario from your own workplace.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Pick a threat pairing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or write a scenario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the 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Extract the mitigations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five-part AI risk analysis covering scenario overview, the bias at play, risk escalation, real-world impact and mitigation strategies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Links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77393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7739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1: AI Ethical Dilemma Simulator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https://tertiarycourses.github.io/TGS-2025060472-Responsible-Generative-AI-Basics/lu1-ethical-principles/ethical-dilemma/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51176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551176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679192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2: AI Ethical Principles Quiz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https://tertiarycourses.github.io/TGS-2025060472-Responsible-Generative-AI-Basics/lu1-ethical-principles/principles-quiz/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31012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3101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3: Prompt Injection Playground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https://tertiarycourses.github.io/TGS-2025060472-Responsible-Generative-AI-Basics/lu1-ethical-principles/prompt-injection/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53035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07822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07822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4: Ethical Decision-Making Framework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https://tertiarycourses.github.io/TGS-2025060472-Responsible-Generative-AI-Basics/lu1-ethical-principles/decision-framework/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5: AI Output Scepticism Checker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https://tertiarycourses.github.io/TGS-2025060472-Responsible-Generative-AI-Basics/lu1-ethical-principles/skepticism-checker/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623560"/>
            <a:ext cx="10634472" cy="53035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623560"/>
            <a:ext cx="91440" cy="53035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3272" y="561441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3272" y="561441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5751576"/>
            <a:ext cx="9427464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6: The Cognitive Threat Matrix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https://tertiarycourses.github.io/TGS-2025060472-Responsible-Generative-AI-Basics/lu1-ethical-principles/cognitive-threat-matrix/   ·   Needs a Gemini API key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LU1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Ethical Principles of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Ethical Dilemma Simulator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Recognise the ethical considerations and potential risks that arise when interacting with generative AI (K2).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Ethical Principles Quiz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and apply the core ethical principles in AI (K4).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Prompt Injection Playground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how prompt injection threatens AI safety and how layered defences reduce the risk (K2).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Ethical Decision-Making Framework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ethical principles systematically in decision-making related to AI (A1).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Output Scepticism Checker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Exercise professional scepticism to exercise sound judgement on generative AI output (A2).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Cognitive Threat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Analyse how human cognitive bias combines with generative AI failure modes to escalate risk (K2, A2).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Generative AI Privacy Techniques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Anonymisation &amp; De-identification · Privacy Measures in Practice · Ethical Data Guidelines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Anonymisation irreversibly severs the link to an individual; pseudonymisation only replaces identifiers and remains personal data under the PDPA and GDPR.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K-anonymity guarantees an individual cannot be distinguished from at least k-1 others by generalising or suppressing quasi-identifiers.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Release-based privacy fails when an attacker holds external auxiliary data — the re-identification attack that motivated stronger, computation-based guarantees.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three layers of AI data security are the pipeline (encryption in transit and at rest), the model (training and memorisation controls) and the output (filtering).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Format-preserving encryption and data-shifting keep a field usable by downstream systems while removing its identifying power.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ethical AI data policy classifies data as prohibited, restricted or permitted for AI input, and pairs each class with a mandated safeguard.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T1 · THE DISTINCTION THAT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Legal Baseline — Anonymisation vs Pseudonymisation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Getting this wrong is the single most common privacy compliance error in AI projects.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Pseudonymisation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Anonymisation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What it does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Replaces identifiers with a token or key; the link to the individual is retained somewhere.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Irreversibly severs the link — no key exists that can restore identity.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Reversible?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Yes — by anyone holding the mapping key.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 — by design, not by policy.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Still personal data?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YES. Remains fully in scope of the PDPA and GDPR, with all obligations intact.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No. Out of scope, because there is no longer an identifiable individual.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Typical use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Internal analytics where re-identification must remain possible for legitimate operational reasons.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Publishing, external sharing, or training data where re-identification must be impossible.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T1 · GENERALISE UNTIL INDISTINGUISHABLE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Mechanics of K-Anonymity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Guaranteeing an individual cannot be distinguished from at least k-1 others.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41424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142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direct identifiers (name, NRIC, email) and remove them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8841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66313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66313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30497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30497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12617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quasi-identifiers (age, postcode, gender) that combine to re-identify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791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55386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55386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9570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957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1690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Generalise values — exact age becomes an age band, postcode loses digits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6987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44459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44459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908643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08643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0763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Suppress records that remain unique even after generalisation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606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33532" y="2240280"/>
            <a:ext cx="1878177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533532" y="224028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097716" y="2587752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9771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79836" y="3566160"/>
            <a:ext cx="1585569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Verify every combination of quasi-identifiers appears at least k times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Its limit: k-anonymity fails when the attacker holds external auxiliary data, or when every record in a group shares the same sensitive value.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T2 · DEFENCE IN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Layers of AI Data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Protecting data in an AI system means protecting it at rest, in computation and at output.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Layer 1 — The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Encryption in transit and at rest; access control; format-preserving encryption so a field stays usable by downstream systems while losing its identifying power; data shifting and masking.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Layer 2 — The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Controls on what enters training; the training paradox of balancing data utility against data privacy; differential privacy and DP-SGD to bound what any one record can contribute.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Layer 3 — The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Output filtering to catch memorised training data; guarding against LLM memorisation, where a model reproduces verbatim sensitive strings it saw during training.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governance wrapper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Know your tools · establish policy · lock down inputs · understand external threats · update training · review vendors · plan for incidents.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59E0B"/>
                </a:solidFill>
                <a:latin typeface="Arial"/>
              </a:rPr>
              <a:t>LU2 · T2 · THE OPERATIONAL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7-Step Governance Checklist for AI Adoption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240280"/>
            <a:ext cx="125272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25272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" y="258775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870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566160"/>
            <a:ext cx="960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Know your tools — inventory every AI tool actually in use, including shadow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339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40864" y="2240280"/>
            <a:ext cx="125272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40864" y="2240280"/>
            <a:ext cx="125272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592324" y="258775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232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87168" y="3566160"/>
            <a:ext cx="960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Establish policy — classify data as prohibited, restricted or permitted for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04488" y="2240280"/>
            <a:ext cx="125272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04488" y="2240280"/>
            <a:ext cx="125272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55948" y="258775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5948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50792" y="3566160"/>
            <a:ext cx="960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Lock down inputs — anonymise or mask before anything reaches a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68112" y="2240280"/>
            <a:ext cx="125272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68112" y="2240280"/>
            <a:ext cx="125272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19572" y="258775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1957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14416" y="3566160"/>
            <a:ext cx="960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Understand external threats — prompt injection, data exfiltration, vendor breach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31736" y="2240280"/>
            <a:ext cx="125272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031736" y="2240280"/>
            <a:ext cx="125272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283196" y="258775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8319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566160"/>
            <a:ext cx="960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Update training — staff must know the limits of the tools they are given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7888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95360" y="2240280"/>
            <a:ext cx="125272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95360" y="2240280"/>
            <a:ext cx="125272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46820" y="258775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4682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41664" y="3566160"/>
            <a:ext cx="960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vendors — retention, training use, sub-processors, jurisdiction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59E0B"/>
                </a:solidFill>
                <a:latin typeface="Arial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158984" y="2240280"/>
            <a:ext cx="1252728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158984" y="2240280"/>
            <a:ext cx="1252728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410444" y="2587752"/>
            <a:ext cx="749808" cy="74980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1044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05288" y="3566160"/>
            <a:ext cx="960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Plan for incidents — detection, reporting deadline, assessment, notification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This checklist is directly assessable — you should be able to reproduce all seven steps.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T1 · TECHNIQUE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Choosing the Right Protection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Each technique buys a different guarantee at a different cost to utility.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Protects against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Masking / redaction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Casual inspection of directly identifying fields.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Cheap and fast, but destroys the field's analytical value entirely.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273552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273552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K-anonymity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Singling out an individual from quasi-identifiers.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273552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273552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Moderate loss of granularity; fails against auxiliary-data attacks.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986784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86784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Differential privacy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Inferring whether any individual was in the dataset at all.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3986784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3986784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Adds calibrated noise — a formal guarantee paid for in accuracy.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700016"/>
            <a:ext cx="21488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700016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Homomorphic encryption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Exposure during computation — data never decrypted to be processed.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4700016"/>
            <a:ext cx="42428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4700016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Strongest guarantee, but computationally very slow.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413248"/>
            <a:ext cx="2148840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413248"/>
            <a:ext cx="187452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Synthetic data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0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90672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Direct exposure of any real record.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68896" y="5413248"/>
            <a:ext cx="4242816" cy="713232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33488" y="5413248"/>
            <a:ext cx="39136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Useful when masking destroys utility; fidelity and residual leakage must be validated.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T3 · THE EXECUTIVE PLAYBOOK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Designing an Ethical AI Data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Classify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Sort every data category into PROHIBITED (never enters an AI tool), RESTRICTED (only with safeguards) and PERMITTED (freely usable).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13582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3582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Comply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3582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 the regimes that bind you — PDPA as the Singapore baseline, plus GDPR, HIPAA or the EU AI Act where applicable.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9924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9924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Safeguard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9924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Mandate the specific controls: anonymisation before input, encryption, role-based access, audit logging and human review of outputs.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6266" y="1828800"/>
            <a:ext cx="2425446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D7DFEA"/>
                </a:solidFill>
                <a:latin typeface="Arial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86266" y="2697480"/>
            <a:ext cx="242544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Respond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6266" y="3401568"/>
            <a:ext cx="2425446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Define detection, a reporting deadline, severity assessment, notification and a post-incident review that updates the policy.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440680"/>
            <a:ext cx="10634472" cy="73152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5440680"/>
            <a:ext cx="91440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440680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Trust is engineered, not accidental — a policy nobody can follow protects nobody.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51663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7–8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 Anonymisation Techniques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Python Data Anonymisation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45352" y="1783080"/>
            <a:ext cx="51663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2" y="1783080"/>
            <a:ext cx="51663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2011680"/>
            <a:ext cx="4709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9–9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697480"/>
            <a:ext cx="4709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Ethical AI Data Policy Generator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Anonymisation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Run one set of sensitive records through four different anonymisation techniques side by side, and see why only some of them actually remove the re-identification risk.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Enter your API 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sample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Apply all 4 techniques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techniques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reviewers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side-by-side comparison table showing the same record under all four techniques, including three different reviewers' subjective judgements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Python Data Anonymisation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Build a seven-stage anonymisation pipeline over a raw dataset — pseudo-IDs, text shifting, masking, generalisation and column dropping — then export both the anonymised data and the Python code that produced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 raw dataset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techniques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the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Inspect the 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Export CSV +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 exported anonymised CSV plus the generated Python script implementing your chosen techniques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LU2 · ACTIVITY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Ethical AI Data Policy Generator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Produce a complete, organisation-specific AI data-handling policy through a guided five-step wizard — the document that tells your colleagues what they may and may not paste into an AI tool.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Profile the organisation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Classify the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Select the regulations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Choose the safeguards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Generate &amp; print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printed seven-section 'AI Data Handling Policy' tailored to your organisation, sector and risk tolerance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Links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7: Data Anonymisation Techniques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https://tertiarycourses.github.io/TGS-2025060472-Responsible-Generative-AI-Basics/lu2-privacy/dataprivacy/   ·   Needs a Gemini API key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8: Python Data Anonymisation Pipeline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https://tertiarycourses.github.io/TGS-2025060472-Responsible-Generative-AI-Basics/lu2-privacy/anonymizer-python/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9: Ethical AI Data Policy Generator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https://tertiarycourses.github.io/TGS-2025060472-Responsible-Generative-AI-Basics/lu2-privacy/privacy-policy/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LU2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Generative AI Privacy Techniques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Anonymisation Techniques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Distinguish the anonymisation spectrum — de-identification, pseudonymisation, objective and subjective anonymisation (K1).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Python Data Anonymisation Pipeline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Apply privacy measures when handling data for AI applications by building an anonymisation pipeline (A3).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Ethical AI Data Policy Generator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Design guidelines or strategies for ethical AI use, including use of sensitive data in generative AI tools (A4).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LU3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Best Practices of Responsible Generative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Responsible AI Principles · Comparing AI Systems · Comparing Ethical Issues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LU3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EU AI Act regulates by risk tier — unacceptable, high, limited and minimal — with obligations that scale to the harm the system can cause.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ISO/IEC 42005:2025 gives an internal, non-certifiable structure for assessing an AI system's impact on individuals, groups and society across its lifecycle.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Differential privacy is a mathematical guarantee: the output does not reveal whether any single individual's record was in the dataset, tuned by the epsilon budget.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Comparing AI systems responsibly means scoring them on intellectual property provenance, data privacy posture and environmental cost — not accuracy alone.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'Green AI' routes appropriate tasks to small language models, cutting energy and cost against the 'Red AI' default of always using the largest frontier model.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Explainability trades off against raw accuracy; XAI frameworks such as SHAP and LIME recover interpretability where the decision affects people's lives.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WHAT RESPONSIBLE DEPLOYMENT REQUIRES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Three Pillars of Safe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Intellectual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Was the training data licensed? Who owns the output? Getty Images v Stability AI put provenance of training data at the centre of the question.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personal data entered the model, under what lawful basis, and can it be extracted again through memorisation?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Environmental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Energy, water and carbon per training run and per inference — the cost that scales with every user you add.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The unifying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Responsible comparison scores systems on all three, not on benchmark accuracy alone. A more accurate model with unlicensed training data and no privacy posture is not the better choice.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LU3 · T1 · IMPACT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ISO/IEC 42005 — The Assessment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ISO/IEC 42005:2025 — internal guidance for assessing an AI system's impact on individuals, groups and society. Not a certification standard; you do not need an external auditor.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9002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900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Define scope, purpose and the context of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3996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1468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1468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83230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83230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7772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Identify affected individuals, groups and society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78224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25696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25696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807458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7458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 potential harms and benefits across the lifecycle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02452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9924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49924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631686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1686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6228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Determine controls and mitigations for each identified harm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26680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74152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74152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55914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5914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0456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Document the assessment and its residual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0908" y="333756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98380" y="2240280"/>
            <a:ext cx="1513332" cy="27432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898380" y="2240280"/>
            <a:ext cx="1513332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80142" y="2587752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80142" y="258775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44684" y="3566160"/>
            <a:ext cx="122072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Review and re-assess when the system or its context changes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7240" y="5257800"/>
            <a:ext cx="10634472" cy="8229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7240" y="5257800"/>
            <a:ext cx="91440" cy="8229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Use it internally to bring structure to how consequences are evaluated — from planning and design through deployment and monitoring.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T1 · THE PRIVACY-UTILITY DIAL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Differential Privacy — The Epsilon Budget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Epsilon (ε) quantifies privacy loss: lower means stronger privacy and noisier answers.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3300984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F6FEB"/>
                </a:solidFill>
                <a:latin typeface="Arial"/>
              </a:rPr>
              <a:t>ε ≤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Strong privacy — high noise, suitable for publishing sensitive statistics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43984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43984" y="2240280"/>
            <a:ext cx="3300984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43984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10B981"/>
                </a:solidFill>
                <a:latin typeface="Arial"/>
              </a:rPr>
              <a:t>ε ≈ 1–10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2584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Moderate — the practical working range for most deployed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2240280"/>
            <a:ext cx="3300984" cy="28346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2240280"/>
            <a:ext cx="3300984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0728" y="2651760"/>
            <a:ext cx="330098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5200" b="1">
                <a:solidFill>
                  <a:srgbClr val="7C3AED"/>
                </a:solidFill>
                <a:latin typeface="Arial"/>
              </a:rPr>
              <a:t>ε &gt;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931920"/>
            <a:ext cx="2843784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Weak — the formal guarantee becomes close to meaningless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349240"/>
            <a:ext cx="10634472" cy="77724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349240"/>
            <a:ext cx="91440" cy="7772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4924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DP-SGD applies this during training: clip each example's gradient to bound its influence, then add calibrated noise — so no single person's data can be recovered from the model.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GLOBAL REGULATORY FRACTURE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Comparison of AI Regulations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There is no single global AI regime — comparing systems means comparing against several.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Binding force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EU AI 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Risk-tiered: prohibited, high, limited and minimal risk, with obligations scaled to the tier.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Binding law with substantial financial penalties.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NIST AI 600-1 (US)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companion to the AI Risk Management Framework addressing risks specific to generative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Voluntary framework; influential in procurement and practice.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Canada AIDA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Focused on 'high-impact' systems, with obligations on assessment and mitigation.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Proposed legislation.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Singapore AI Verify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Testing framework of 11 principles across process checks and technical tests, with the Model AI Governance Framework.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Voluntary, industry-led; the practical baseline for Singapore organisations.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ENVIRONMENTAL TOLL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Red AI vs Green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Task alignment — routing work to the smallest model that can do it — is the single largest lever on AI's environmental cost.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'Red AI' — frontier by default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'Green AI' — right-sized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Model choice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Always the largest available frontier model, regardless of task difficulty.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 small language model (SLM) for well-scoped, repetitive tasks; frontier models reserved for genuinely hard ones.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Energy per query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Orders of magnitude higher; every user added multiplies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Dramatically lower, and often runs on local or modest hardware.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Cost &amp; latency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Highest cost per call and slower responses.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Cheaper and faster — the business case usually aligns with the green case.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When justified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Open-ended reasoning, novel synthesis, complex multi-step work.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Classification, extraction, routing, summarisation, structured formatting.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T2 · THE TRANSPARENCY CRISIS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Openness Does Not Equal Transparency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'Open-weights' is a licence claim, not a disclosure of how the system was built.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is usually disclosed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Model weights, an architecture description, an inference licence and benchmark scores.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What usually is not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The training-data composition and provenance, the data-filtering decisions, the human feedback process and the evaluation failures.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Why it matters for compliance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You cannot assess IP provenance or privacy risk from weights alone — the questions a regulator asks concern the data, not the parameters.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What to ask a vendor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Data provenance and licensing; retention and training use of your inputs; published evaluation results including failures; incident history and escalation path.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DEMYSTIFYING THE BLACK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Technical Trade-off — Accuracy vs Interpretability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more capable the model, the harder it is to explain — and explanation is often a legal requirement.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Interpretable by design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Black box + post-hoc XAI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Examples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Linear and logistic regression, decision trees, rule lists.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Deep neural networks, gradient-boosted ensembles, large language models.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Explanation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The model IS the explanation — you can read the coefficients or the tree.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Requires SHAP or LIME to approximate why a particular decision was made.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Trade-off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Lower ceiling on accuracy for complex, high-dimensional problems.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Higher accuracy, but the explanation is an approximation, not the mechanism.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Where each fits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Regulated, contestable decisions — credit, hiring, benefits, sentencing.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Perception, language and pattern tasks — with XAI bolted on where decisions affect people.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TWO WAYS TO EXPLAIN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LIME vs SHAP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68896" y="2103120"/>
            <a:ext cx="4242816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SHAP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Basis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26080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Fits a simple interpretable model locally around the one prediction being explained.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68896" y="256032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33488" y="256032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Shapley values from cooperative game theory — each feature's fair share of the outcome.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5186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45186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Consistency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80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90672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Stochastic — re-running gives slightly different values each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68896" y="345186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33488" y="345186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Deterministic and additive — the contributions sum exactly to the prediction.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343400"/>
            <a:ext cx="2148840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34340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Speed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0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90672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Fast; practical for quick, local inspection.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68896" y="4343400"/>
            <a:ext cx="4242816" cy="891540"/>
          </a:xfrm>
          <a:prstGeom prst="rect">
            <a:avLst/>
          </a:prstGeom>
          <a:solidFill>
            <a:srgbClr val="F5F8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33488" y="434340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Slower; exact computation is expensive for large models.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234940"/>
            <a:ext cx="2148840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234940"/>
            <a:ext cx="1874520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926080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90672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Rapid, intuitive checks on individual predictions during development.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68896" y="5234940"/>
            <a:ext cx="4242816" cy="891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33488" y="5234940"/>
            <a:ext cx="3913632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Explanations that must be defended to a regulator, an auditor or the affected person.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T3 · HIGH-STAKES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Anatomy of Algorithmic Discrimination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The same failure pattern recurs across documented cases in hiring, credit, health and policing.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91440" cy="19156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Amazon's recruiting tool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Trained on ten years of predominantly male hires; learned to penalise resumes containing signals of being a woman. Withdrawn.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2057400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2057400"/>
            <a:ext cx="91440" cy="19156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5956" y="2221992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Apple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956" y="2624328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Couples with shared finances received markedly different credit limits; neither the operator nor the issuer could explain the decisions.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10812"/>
            <a:ext cx="91440" cy="19156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IBM Watson for Oncology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Recommended unsafe treatments; trained substantially on synthetic cases rather than real patient outcomes.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1636" y="4210812"/>
            <a:ext cx="5180076" cy="191566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4210812"/>
            <a:ext cx="91440" cy="19156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5956" y="4375404"/>
            <a:ext cx="46771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59E0B"/>
                </a:solidFill>
                <a:latin typeface="Arial"/>
              </a:rPr>
              <a:t>Clearview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5956" y="4777740"/>
            <a:ext cx="4677156" cy="12298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Scraped billions of facial images without consent to build an identification service sold to law enforcement.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7C3AED"/>
                </a:solidFill>
                <a:latin typeface="Arial"/>
              </a:rPr>
              <a:t>LU3 · T3 · THE ULTIMATE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Ethical AI is not a roadblock to innovation — it is the prerequisite.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Cost reduction must advance alongside accessibility and quality. A system that is cheaper and faster but unfair, opaque or unsafe has not improved anything that matters.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In-Class Activities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43656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Activities 10–11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System Comparison Matrix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Differential Privacy Explorer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2648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2648" y="1783080"/>
            <a:ext cx="3343656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1248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Activities 12–13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1248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Explainable AI (XAI) Explorer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Ethical Paradigms of AI Resource Allocation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1783080"/>
            <a:ext cx="3343656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8056" y="1783080"/>
            <a:ext cx="33436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6656" y="2011680"/>
            <a:ext cx="288645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Activities 14–14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6656" y="2697480"/>
            <a:ext cx="288645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AI Ethics Case Study Analyzer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System Comparison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Score ChatGPT, Claude and Gemini across five responsibility dimensions and plot them on a radar chart — turning 'which AI should we use?' into an evidence-based comparison rather than a brand preference.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Score ChatGPT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Score Claude &amp; Gemini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Add a 4th system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Update the chart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radar &amp; table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radar comparison chart and scored comparison table ranking at least three AI systems by overall average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Differential Privacy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Turn the epsilon dial and watch the privacy-utility trade-off happen in front of you — strong privacy makes the answer noisy, weak privacy makes it accurate but leaks.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at epsilon 1.0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low vs 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Try randomised response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Spend the budget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Exhaust the budget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set of query results at three different epsilon values plus a spent privacy budget showing how many queries a dataset can safely answer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Explainable AI (XAI) Explorer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black box on a loan-approval model: adjust an applicant's profile, watch the decision flip, and compare how LIME and SHAP each explain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a borderline case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Flip the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LIME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SHAP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side by side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LIME and SHAP explanations for the same borderline applicant, plus the side-by-side comparison of the two methods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Ethical Paradigms of AI Resource Allocation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Allocate a scarce resource — 50 treatments among 120 eligible patients — three times over, once under each ethical paradigm, and confront the fact that all three are defensible and they disagree about who lives.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Study the 3 paradigms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Load the scenario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Run all 3 allocations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Compare the outcomes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Justify your choice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Three allocation results for the same scenario under the Utilitarian, Egalitarian and Prioritarian paradigms, with your own written justification of which is most appropriate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LU3 · ACTIVITY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AI Ethics Case Study Analyzer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73736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ACTIVITY 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106984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Analyse documented AI ethics failures — IBM Watson for Oncology, the Apple Card credit investigation, Amazon's recruiting tool, Clearview AI — and propose the remediation that should have been in place.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0B981"/>
                </a:solidFill>
                <a:latin typeface="Arial"/>
              </a:rPr>
              <a:t>WORKFLOW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35277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35277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Filter to your sector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8219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51683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951683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09720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9720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1411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Read the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2662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6126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26126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884163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84163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5854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Identify the issues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7105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0569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0569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58606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58606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10297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Propose remediation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91548" y="4041648"/>
            <a:ext cx="32918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75012" y="3456432"/>
            <a:ext cx="1936699" cy="16276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75012" y="3456432"/>
            <a:ext cx="1936699" cy="6400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33049" y="3602736"/>
            <a:ext cx="420624" cy="420624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33049" y="3602736"/>
            <a:ext cx="420624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84740" y="4114800"/>
            <a:ext cx="1717243" cy="8778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161B26"/>
                </a:solidFill>
                <a:latin typeface="Arial"/>
              </a:rPr>
              <a:t>Find the pattern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57800"/>
            <a:ext cx="10634472" cy="89611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" y="5257800"/>
            <a:ext cx="91440" cy="89611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97280" y="5349240"/>
            <a:ext cx="7863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YOU'LL PRODUCE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623560"/>
            <a:ext cx="7863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written analysis of at least one case identifying its ethical issues and your proposed remediation, compared against an AI critique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5257800"/>
            <a:ext cx="2148840" cy="896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Aft>
                <a:spcPts val="200"/>
              </a:spcAft>
            </a:pPr>
            <a:r>
              <a:rPr sz="1100" b="1">
                <a:solidFill>
                  <a:srgbClr val="5B6372"/>
                </a:solidFill>
                <a:latin typeface="Arial"/>
              </a:rPr>
              <a:t>Duration</a:t>
            </a:r>
          </a:p>
          <a:p>
            <a:pPr algn="r">
              <a:spcAft>
                <a:spcPts val="2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15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· OPEN THE ACTIVITIES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Links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85074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85074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10: AI System Comparison Matrix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https://tertiarycourses.github.io/TGS-2025060472-Responsible-Generative-AI-Basics/lu3-best-practices/ai-comparison/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70479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704795"/>
            <a:ext cx="91440" cy="683971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27724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27724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283281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11: Differential Privacy Explorer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https://tertiarycourses.github.io/TGS-2025060472-Responsible-Generative-AI-Basics/lu3-best-practices/differential-privacy/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62651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626510"/>
            <a:ext cx="91440" cy="683971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5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75452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12: Explainable AI (XAI) Explorer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https://tertiarycourses.github.io/TGS-2025060472-Responsible-Generative-AI-Basics/lu3-best-practices/xai-explorer/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548225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548225"/>
            <a:ext cx="91440" cy="683971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61589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61589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676241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13: The Ethical Paradigms of AI Resource Allocation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https://tertiarycourses.github.io/TGS-2025060472-Responsible-Generative-AI-Basics/lu3-best-practices/ai-resource-allocation/   ·   Needs a Gemini API key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469940"/>
            <a:ext cx="10634472" cy="683971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5469940"/>
            <a:ext cx="91440" cy="683971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537605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537605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5597956"/>
            <a:ext cx="9427464" cy="5010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Activity 14: AI Ethics Case Study Analyzer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https://tertiarycourses.github.io/TGS-2025060472-Responsible-Generative-AI-Basics/lu3-best-practices/ethics-case-study/   ·   Needs a Gemini API key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LU3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Best Practices of Responsible Generative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System Comparison Matrix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AI systems on intellectual property, data privacy and environmental impact (A5).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Differential Privacy Explorer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Explain how differential privacy protects individuals and the privacy-utility trade-off it imposes (K1, K3).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Explainable AI (XAI) Explorer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explainability techniques and the accuracy-interpretability trade-off (K3, A6).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Ethical Paradigms of AI Resource Allocation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Compare ethical issues in AI applications across competing ethical frameworks (A6).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AI Ethics Case Study Analyzer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can now: Identify ethical issues in real AI deployments and propose remediation (A6, A1).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LO1 · Ethical Reasoning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Assessed generative AI outputs against ethical principles, exercised professional scepticism and made documented, defensible decisions.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9272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447288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LO2 · Privacy Safeguards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Applied anonymisation, de-identification and secure-storage measures, and designed an ethical AI data policy.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55464"/>
            <a:ext cx="10634472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983480"/>
            <a:ext cx="9427464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LO3 · Ethical Comparison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Compared AI systems on intellectual property, data privacy and environmental impact, and analysed real ethical failures.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Written Assessment (WA, SAQ) — 30 minutes, covering K1–K4.  Case Study (CS) — 30 minutes, covering A1–A6.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book: slides, Learner Guide and approved materials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Remember to complete the TRAQOM survey and take the Assessment digital attendance (two separate steps).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Submit your completed answers on the LMS at https://lms-tms.tertiaryinfotech.com/.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Sit WA (SAQ) then the Case Study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679192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679192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657600"/>
            <a:ext cx="1585569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It is mandatory to take the AM, PM and Assessment digital attendance for WSQ-funded courses.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935224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64792" y="3026664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trainer/administrator displays the digital attendance QR code from the SSG portal.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Scan the QR code with your mobile phone camera and submit your attendance.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5239512"/>
            <a:ext cx="10634472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30952"/>
            <a:ext cx="942746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minimum of 75% attendance is required to be eligible for assessment and funding.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AT THE NEXT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question a confident machine, protect the data you feed it, and compare AI systems on more than accuracy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Responsible Generative AI Basics  ·  TGS-2025060472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