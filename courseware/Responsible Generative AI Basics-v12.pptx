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rtiary-infotech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640080"/>
            <a:ext cx="960120" cy="9601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9784080" y="658368"/>
            <a:ext cx="1691640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0" y="822960"/>
            <a:ext cx="1691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WSQ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0" y="1188720"/>
            <a:ext cx="1691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COURSE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0312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COURSE SLIDES  ·  WSQ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06040"/>
            <a:ext cx="109728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Responsible Generative AI Basics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" y="4343400"/>
            <a:ext cx="219456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617720"/>
            <a:ext cx="10972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WSQ Course Code: TGS-2025060472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Conducted by Tertiary Infotech Academy Pte Ltd  ·  UEN 201200696W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943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Version v12  ·  11 August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263640"/>
            <a:ext cx="10972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Ltd. All rights reserved.  ·  www.tertiarycourses.com.sg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COURSE ADMINISTRATION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Welcome &amp; Housekeeping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SSG DIGITAL 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196596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19659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9427464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It is mandatory to take the AM, PM and Assessment digital attendance for WSQ-funded courses.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935224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935224"/>
            <a:ext cx="91440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3272" y="311810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311810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3026664"/>
            <a:ext cx="9427464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The trainer/administrator displays the digital attendance QR code from the SSG portal.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270248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27024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78808"/>
            <a:ext cx="9427464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Scan the QR code with your mobile phone camera and submit your attendance.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5239512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5239512"/>
            <a:ext cx="91440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3272" y="5422392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" y="542239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5330952"/>
            <a:ext cx="9427464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 minimum of 75% attendance is required to be eligible for assessment and funding.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YOUR TRAINER · 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Your Trainer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General Trainer template —
to be completed by the trainer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NAME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52984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252984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52984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TITLE / DESIGNATION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327660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3276600"/>
            <a:ext cx="91440" cy="5638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327660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QUALIFICATIONS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402336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4023360"/>
            <a:ext cx="91440" cy="5638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402336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AREAS OF EXPERTISE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80560" y="477012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80560" y="477012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73168" y="477012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TRAINING &amp; INDUSTRY EXPERIENCE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80560" y="551688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480560" y="551688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73168" y="551688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CONTACT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YOUR TRAINER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Dr. Alfred Ang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Principal Trainer
Tertiary Infotech Academy Pte Ltd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9372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ROLE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Principal Trainer, Tertiary Infotech Academy Pte Ltd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90322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2903220"/>
            <a:ext cx="91440" cy="9372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90322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CERTIFICATION / CREDENTIALS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PhD; 20+ years of training and industry experience in AI and data.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402336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4023360"/>
            <a:ext cx="91440" cy="9372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402336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DELIVERS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WSQ courses on responsible AI, generative AI practices, data analytics and machine learning.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514350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5143500"/>
            <a:ext cx="91440" cy="9372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514350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FOUNDER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Founder and lead instructor at Tertiary Infotech / Tertiary Courses.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ICE-BREAKER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Let's Know Each Other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9427464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Your name, organisation and role.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319272"/>
            <a:ext cx="1063447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3410712"/>
            <a:ext cx="9427464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Which generative AI tools you already use at work — and what you use them for.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855464"/>
            <a:ext cx="1063447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946904"/>
            <a:ext cx="9427464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One thing about AI that genuinely worries you.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HOUSEKEEPING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Ground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Set your mobile phone to silent mode.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Actively participate — no question is too small.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Respect each other's views: agree to disagree.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One conversation at a time.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Be punctual; return from breaks on time.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75% attendance is required for funding eligibility.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COURSE ACCREDITATION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Skills Framework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TSC Title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Responsible AI and Generative AI Practices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TSC Code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ICT-BAS-0055-1.1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Assessment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Written Assessment (SAQ) + Case Study — both open book.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Structure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3 Learning Units (LU1–LU3), each mapped to a Learning Outcome.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3 LEARNING UNITS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Course Outline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9427464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LU1 — Ethical Principles of Generative AI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Risks of GenAI Interaction · Ethical Principles · Ethical Decision-Making · Professional Scepticism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319272"/>
            <a:ext cx="1063447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3447288"/>
            <a:ext cx="9427464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LU2 — Generative AI Privacy Techniques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Anonymisation &amp; De-identification · Privacy Measures in Practice · Ethical Data Guidelines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855464"/>
            <a:ext cx="1063447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983480"/>
            <a:ext cx="9427464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LU3 — Best Practices of Responsible Generative AI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Responsible AI Principles · Comparing AI Systems · Comparing Ethical Issues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Lesson Plan — 1 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Morning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Afternoon &amp; Assessment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Morning — 9:30am to 12:10pm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Welcome, ground rules and AM digital attendance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LU1: Ethical Principles of Generative AI (Activities 1–6)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Tea break at 11:05am; lunch 12:10–12:55pm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Afternoon — 12:55pm to 7:05pm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LU1 concludes; LU2: Privacy Techniques (Activities 7–9)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LU3: Best Practices of Responsible GenAI (Activities 10–14)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Briefing 5:55pm; Assessment: WA (30 min) + Case Study (30 min), 6:05–7:05pm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Timing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45-minute lunch and two 10-minute tea breaks. Assessment is 1 hour in total.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ACHIEVE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Learning Outcomes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9427464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LO1 · Ethical Reasoning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Apply ethical reasoning to assess generative AI outputs and guide responsible decision-making in AI implementation.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319272"/>
            <a:ext cx="1063447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3447288"/>
            <a:ext cx="9427464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LO2 · Privacy Safeguards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Apply privacy safeguards to protect sensitive data used in generative AI through anonymisation and secure storage methods.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855464"/>
            <a:ext cx="1063447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983480"/>
            <a:ext cx="9427464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LO3 · Ethical Comparison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Compare generative AI systems for ethical compliance based on intellectual property, privacy and environmental impact.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BEFORE YOU START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Briefing for 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5303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5303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1773936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177393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9427464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Place phones and other materials under the table or on the floor.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551176"/>
            <a:ext cx="10634472" cy="5303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551176"/>
            <a:ext cx="91440" cy="5303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2642616"/>
            <a:ext cx="9427464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No photos or recording of assessment scripts.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10634472" cy="5303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5303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310128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31012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10712"/>
            <a:ext cx="9427464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No discussion during the assessment.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087368"/>
            <a:ext cx="10634472" cy="5303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087368"/>
            <a:ext cx="91440" cy="5303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3272" y="4078224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" y="407822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4178808"/>
            <a:ext cx="9427464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Use a black/blue pen for hard-copy assessments.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10634472" cy="5303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5303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46904"/>
            <a:ext cx="9427464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No liquid paper / correction tape.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" y="5623560"/>
            <a:ext cx="10634472" cy="5303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77240" y="5623560"/>
            <a:ext cx="91440" cy="5303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33272" y="5614416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33272" y="561441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764792" y="5715000"/>
            <a:ext cx="9427464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Scripts are collected when time is up.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FINAL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683971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1850745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185074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9427464" cy="5376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Written Assessment (WA) — Short-Answer Questions (SAQ), 30 minutes, open book.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704795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704795"/>
            <a:ext cx="91440" cy="683971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3272" y="277246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27724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2796235"/>
            <a:ext cx="9427464" cy="5376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Case Study (CS) — one continuous scenario with open-ended tasks, 30 minutes, open book.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62651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626510"/>
            <a:ext cx="91440" cy="683971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5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717950"/>
            <a:ext cx="9427464" cy="5376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Format: Open Book — slides, Learner Guide and approved materials only.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548225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548225"/>
            <a:ext cx="91440" cy="683971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3272" y="461589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" y="461589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4639665"/>
            <a:ext cx="9427464" cy="5376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 minimum of 75% attendance (per SSG Digital Attendance record) is required to be eligible for assessment and funding. Learners must be assessed as Competent in every K and A, and complete the TRAQOM survey.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546994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5469940"/>
            <a:ext cx="91440" cy="683971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537605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53760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5561380"/>
            <a:ext cx="9427464" cy="5376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An appeal process is available if required.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KNOWLEDGE STATEMENTS · WA-SAQ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Is Assessed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196596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19659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9427464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K1 — Written Assessment (SAQ)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Data anonymisation and de-identification techniques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935224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935224"/>
            <a:ext cx="91440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3272" y="311810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311810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3063240"/>
            <a:ext cx="9427464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K2 — Written Assessment (SAQ)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Ethical considerations and potential risks of generative AI interaction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270248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27024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9427464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K3 — Written Assessment (SAQ)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Responsible AI principles and best practices for development and deployment, including intellectual property, data privacy and environmental impact considerations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5239512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5239512"/>
            <a:ext cx="91440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3272" y="5422392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" y="542239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5367528"/>
            <a:ext cx="9427464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K4 — Written Assessment (SAQ)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Ethical principles in AI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ABILITY STATEMENTS · 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Is Assessed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5303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5303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1773936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177393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9427464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A1 — Case Study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Apply ethical principles in decision-making related to AI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551176"/>
            <a:ext cx="10634472" cy="5303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551176"/>
            <a:ext cx="91440" cy="5303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2679192"/>
            <a:ext cx="9427464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A2 — Case Study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Exercise professional scepticism to exercise sound judgement on Gen AI output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10634472" cy="5303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5303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310128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31012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9427464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A3 — Case Study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Apply privacy measures when handling data for AI applications (e.g., implement simple data anonymisation and de-identification techniques, secure data storage using basic encryption)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087368"/>
            <a:ext cx="10634472" cy="5303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087368"/>
            <a:ext cx="91440" cy="5303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3272" y="4078224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" y="407822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4215384"/>
            <a:ext cx="9427464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A4 — Case Study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Design guidelines or strategies for ethical AI use, including use of sensitive data in generative AI tools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10634472" cy="5303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5303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9427464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A5 — Case Study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Compare AI systems based on considerations such as compliance with intellectual property, data privacy and environmental impact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" y="5623560"/>
            <a:ext cx="10634472" cy="5303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77240" y="5623560"/>
            <a:ext cx="91440" cy="5303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33272" y="5614416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33272" y="561441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764792" y="5751576"/>
            <a:ext cx="9427464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A6 — Case Study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Compare ethical issues in AI applications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ON ASSESSMENT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679192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679192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657600"/>
            <a:ext cx="1585569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TRAQOM survey — scan the QR code on the LMS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679192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679192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657600"/>
            <a:ext cx="1585569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Assessment digital attendance — scan the SSG QR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679192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679192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657600"/>
            <a:ext cx="1585569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Sit WA (SAQ) then the Case Study — open book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679192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679192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657600"/>
            <a:ext cx="1585569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Submit your answers on the LMS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679192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679192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657600"/>
            <a:ext cx="1585569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Sign the Assessment Summary Record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COURSE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Courseware &amp; Assessment on the LMS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64208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Everything for the open-book assessment — slides, Learner Guide and submissions — lives on the LMS.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3749039" cy="3566160"/>
          </a:xfrm>
          <a:prstGeom prst="rect">
            <a:avLst/>
          </a:prstGeom>
          <a:solidFill>
            <a:srgbClr val="0F2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ertiary-infotech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2468880"/>
            <a:ext cx="502920" cy="502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200400"/>
            <a:ext cx="374903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Tertiary Infotech Academy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703320"/>
            <a:ext cx="374903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B8C7E0"/>
                </a:solidFill>
                <a:latin typeface="Arial"/>
              </a:rPr>
              <a:t>LMS and TMS for SSG courses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37360" y="4297680"/>
            <a:ext cx="1828800" cy="5029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37360" y="4297680"/>
            <a:ext cx="1828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Sign in / OTP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029200"/>
            <a:ext cx="374903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9CDCFE"/>
                </a:solidFill>
                <a:latin typeface="Arial"/>
              </a:rPr>
              <a:t>lms-tms.tertiaryinfotech.com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00600" y="2148840"/>
            <a:ext cx="6611112" cy="74066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800600" y="2148840"/>
            <a:ext cx="91440" cy="74066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029200" y="2290572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0" y="2290572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0" y="2148840"/>
            <a:ext cx="5559552" cy="740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Sign in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Log in with your registered email (OTP or password).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00600" y="3090672"/>
            <a:ext cx="6611112" cy="74066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800600" y="3090672"/>
            <a:ext cx="91440" cy="7406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029200" y="3232404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0" y="3232404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0" y="3090672"/>
            <a:ext cx="5559552" cy="740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Download materials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Slides and the Learner Guide from the course page — your open-book references.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00600" y="4032504"/>
            <a:ext cx="6611112" cy="74066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800600" y="4032504"/>
            <a:ext cx="91440" cy="74066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029200" y="4174236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0" y="4174236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0" y="4032504"/>
            <a:ext cx="5559552" cy="740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Submit answers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Upload your Written Assessment and Case Study answers on the LMS.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00600" y="4974336"/>
            <a:ext cx="6611112" cy="74066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800600" y="4974336"/>
            <a:ext cx="91440" cy="7406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029200" y="5116068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0" y="5116068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0" y="4974336"/>
            <a:ext cx="5559552" cy="740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TRAQOM survey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Complete the TRAQOM survey via the QR code shown on the LMS.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77240" y="5870448"/>
            <a:ext cx="10634472" cy="457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77240" y="5870448"/>
            <a:ext cx="914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97280" y="5870448"/>
            <a:ext cx="10058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https://lms-tms.tertiaryinfotech.com/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LU1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Ethical Principles of Generative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Risks of GenAI Interaction · Ethical Principles · Ethical Decision-Making · Professional Scepticism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LU1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LU1 · KEY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Ethical Principles of Generative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Generative AI carries hidden costs beyond the subscription fee: environmental load (energy, water, carbon), security exposure, and psychological or societal impact on the people who use it.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Deepfakes, voice cloning and face-swapping have made synthetic media cheap and convincing — eroding the assumption that seeing is believing.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AI bias is not a single defect: it is introduced through the training data, the model objective, and the deployment context, and it compounds at each stage.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Singapore's AI Verify framework defines 11 principles of trustworthy AI, split into process checks and technical tests, and is operationalised through Project Moonshot.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Applying ethics in practice means stratifying risk (EU AI Act), keeping a human in the loop for high-stakes decisions, and engineering ethics into the design, not bolting it on.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Professional scepticism is the discipline of verifying GenAI output against source evidence — the antidote to automation bias, where people defer to a confident machine.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LU1 · T1 · BEYOND THE SUBSCRIPTION FEE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Hidden Costs of Generative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64208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Every prompt has costs that never appear on the invoice.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057400"/>
            <a:ext cx="5180076" cy="19156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57400"/>
            <a:ext cx="91440" cy="19156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221992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Environmental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624328"/>
            <a:ext cx="4677156" cy="1275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Training and inference consume electricity, fresh water for cooling and embodied carbon in the hardware. A single large model's training run can emit as much CO2 as several cars over their lifetime.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2057400"/>
            <a:ext cx="5180076" cy="19156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2057400"/>
            <a:ext cx="91440" cy="19156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05956" y="2221992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Security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5956" y="2624328"/>
            <a:ext cx="4677156" cy="1275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Data pasted into a public AI tool may be retained, used for training or exposed. AI also widens the attack surface — prompt injection, model extraction and data leakage are new classes of vulnerability.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210812"/>
            <a:ext cx="5180076" cy="19156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210812"/>
            <a:ext cx="91440" cy="19156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4375404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Psychological &amp; Societal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777740"/>
            <a:ext cx="4677156" cy="1275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Increasing dependence on AI, AI as a social and emotional companion, and the erosion of the human capacity to judge — the 'human filter' degrades the more it is bypassed.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1636" y="4210812"/>
            <a:ext cx="5180076" cy="19156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1636" y="4210812"/>
            <a:ext cx="91440" cy="19156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05956" y="4375404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59E0B"/>
                </a:solidFill>
                <a:latin typeface="Arial"/>
              </a:rPr>
              <a:t>Epistemic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05956" y="4777740"/>
            <a:ext cx="4677156" cy="1275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Deepfakes, voice cloning and synthetic media are now cheap and convincing, dissolving the shared assumption that a recording is evidence of anything.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  <p:transition spd="med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LU1 · T1 · THE SCALE OF 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Why GenAI Risk Is Not Hypothetical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64208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The gap between how fast AI is adopted and how fast it is governed is where risk lives.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40280"/>
            <a:ext cx="3300984" cy="28346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240280"/>
            <a:ext cx="3300984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651760"/>
            <a:ext cx="3300984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5200" b="1">
                <a:solidFill>
                  <a:srgbClr val="1F6FEB"/>
                </a:solidFill>
                <a:latin typeface="Arial"/>
              </a:rPr>
              <a:t>98%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931920"/>
            <a:ext cx="2843784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Accuracy can still mean a life-threatening error in the 2% — accuracy is not safety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43984" y="2240280"/>
            <a:ext cx="3300984" cy="28346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43984" y="2240280"/>
            <a:ext cx="3300984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43984" y="2651760"/>
            <a:ext cx="3300984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5200" b="1">
                <a:solidFill>
                  <a:srgbClr val="10B981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2584" y="3931920"/>
            <a:ext cx="2843784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Layers where bias enters: the training data, the model objective, the deployment context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10728" y="2240280"/>
            <a:ext cx="3300984" cy="28346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10728" y="2240280"/>
            <a:ext cx="3300984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10728" y="2651760"/>
            <a:ext cx="3300984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5200" b="1">
                <a:solidFill>
                  <a:srgbClr val="7C3AED"/>
                </a:solidFill>
                <a:latin typeface="Arial"/>
              </a:rPr>
              <a:t>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8" y="3931920"/>
            <a:ext cx="2843784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Principles of trustworthy AI defined by Singapore's AI Verify framework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5349240"/>
            <a:ext cx="10634472" cy="777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5349240"/>
            <a:ext cx="91440" cy="7772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534924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High accuracy on average says nothing about who bears the error. Always ask: who is in the 2%?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  <p:transition spd="med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LU1 · T1 · WHERE BIAS ENTERS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Deconstruction of AI Bias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64208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Bias is not one defect to be patched — it is introduced at three separate stages and compounds.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80" y="2103120"/>
            <a:ext cx="4242816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0" y="2103120"/>
            <a:ext cx="424281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How it enters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68896" y="2103120"/>
            <a:ext cx="4242816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68896" y="2103120"/>
            <a:ext cx="424281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What it produces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560320"/>
            <a:ext cx="2148840" cy="118872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560320"/>
            <a:ext cx="187452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Data bias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26080" y="2560320"/>
            <a:ext cx="4242816" cy="118872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90672" y="2560320"/>
            <a:ext cx="3913632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Training data over-represents some groups and under-represents others; historical records encode past discrimination.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68896" y="2560320"/>
            <a:ext cx="4242816" cy="118872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33488" y="2560320"/>
            <a:ext cx="3913632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 model that is systematically less accurate for under-represented groups.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3749040"/>
            <a:ext cx="21488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749040"/>
            <a:ext cx="187452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Objective bias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26080" y="3749040"/>
            <a:ext cx="4242816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90672" y="3749040"/>
            <a:ext cx="3913632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The metric the model optimises (clicks, cost, speed) is a proxy for what we actually care about (welfare, fairness, safety).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68896" y="3749040"/>
            <a:ext cx="4242816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33488" y="3749040"/>
            <a:ext cx="3913632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 model that optimises the proxy perfectly while defeating the real goal.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4937760"/>
            <a:ext cx="2148840" cy="118872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937760"/>
            <a:ext cx="187452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Deployment bias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26080" y="4937760"/>
            <a:ext cx="4242816" cy="118872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90672" y="4937760"/>
            <a:ext cx="3913632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The system is used on a population, or for a purpose, different from the one it was built and validated for.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68896" y="4937760"/>
            <a:ext cx="4242816" cy="118872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33488" y="4937760"/>
            <a:ext cx="3913632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Confident predictions in a context where the model was never tested.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  <p:transition spd="med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LU1 · T2 · 11 PRINCIPLES, 2 ZONES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AI Verify — Singapore's Testing Framework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64208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AI Verify splits the 11 principles by how each can actually be evidenced. aiverifyfoundation.sg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057400"/>
            <a:ext cx="5180076" cy="19156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57400"/>
            <a:ext cx="91440" cy="19156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221992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Zone 1 — Process checks only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624328"/>
            <a:ext cx="4677156" cy="1275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Transparency · Reproducibility · Safety · Security · Data Governance · Accountability · Human Agency &amp; Oversight · Inclusive Growth &amp; Societal Impact. Evidenced through standardised checklists, documentation and governance frameworks.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2057400"/>
            <a:ext cx="5180076" cy="19156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2057400"/>
            <a:ext cx="91440" cy="19156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05956" y="2221992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Zone 2 — Technical tests + process checks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5956" y="2624328"/>
            <a:ext cx="4677156" cy="1275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Fairness · Explainability · Robustness. Evidenced through black-box technical testing on model inputs and outputs, supported by quantitative toolkits.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210812"/>
            <a:ext cx="5180076" cy="19156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210812"/>
            <a:ext cx="91440" cy="19156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4375404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Why the split matters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777740"/>
            <a:ext cx="4677156" cy="1275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You cannot unit-test accountability, and you cannot govern robustness with a policy document alone. The framework integrates technical validation (TEVV) directly with process governance.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1636" y="4210812"/>
            <a:ext cx="5180076" cy="19156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1636" y="4210812"/>
            <a:ext cx="91440" cy="19156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05956" y="4375404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59E0B"/>
                </a:solidFill>
                <a:latin typeface="Arial"/>
              </a:rPr>
              <a:t>Project Moonshot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05956" y="4777740"/>
            <a:ext cx="4677156" cy="1275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The open-source companion toolkit that operationalises the testing — benchmarking, red-teaming and baseline testing for LLM applications. github.com/aiverify-foundation/moonshot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  <p:transition spd="med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LU1 · T2 · RISK →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GenAI Risk Diagnostic Matrix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64208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Each GenAI risk category has a distinct testing target — you cannot test them all the same way.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80" y="2103120"/>
            <a:ext cx="4242816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0" y="2103120"/>
            <a:ext cx="424281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Output testing target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68896" y="2103120"/>
            <a:ext cx="4242816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68896" y="2103120"/>
            <a:ext cx="424281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Component testing target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560320"/>
            <a:ext cx="214884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560320"/>
            <a:ext cx="18745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Hallucination &amp; inaccuracy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26080" y="2560320"/>
            <a:ext cx="4242816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90672" y="2560320"/>
            <a:ext cx="39136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Domain knowledge; out-of-domain handling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68896" y="2560320"/>
            <a:ext cx="4242816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33488" y="2560320"/>
            <a:ext cx="39136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Retrieval-Augmented Generation (RAG)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3273552"/>
            <a:ext cx="21488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273552"/>
            <a:ext cx="18745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Bias in decision making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26080" y="3273552"/>
            <a:ext cx="4242816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90672" y="3273552"/>
            <a:ext cx="39136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Parity metrics; counterfactual checks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68896" y="3273552"/>
            <a:ext cx="4242816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33488" y="3273552"/>
            <a:ext cx="39136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Model, system prompt, input filters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3986784"/>
            <a:ext cx="214884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3986784"/>
            <a:ext cx="18745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Undesirable content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26080" y="3986784"/>
            <a:ext cx="4242816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90672" y="3986784"/>
            <a:ext cx="39136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Content type; elicitation rate; helpfulness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68896" y="3986784"/>
            <a:ext cx="4242816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33488" y="3986784"/>
            <a:ext cx="39136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Input &amp; output filters; system prompt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4700016"/>
            <a:ext cx="21488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4700016"/>
            <a:ext cx="18745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Data leakage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26080" y="4700016"/>
            <a:ext cx="4242816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90672" y="4700016"/>
            <a:ext cx="39136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Data type leaked; ease of elicitation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68896" y="4700016"/>
            <a:ext cx="4242816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33488" y="4700016"/>
            <a:ext cx="39136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Input &amp; output filters; system prompt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" y="5413248"/>
            <a:ext cx="214884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5413248"/>
            <a:ext cx="18745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Adversarial prompts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926080" y="5413248"/>
            <a:ext cx="4242816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90672" y="5413248"/>
            <a:ext cx="39136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Direct vs indirect prompt injection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168896" y="5413248"/>
            <a:ext cx="4242816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33488" y="5413248"/>
            <a:ext cx="39136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Input &amp; output filters; system prompt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  <p:transition spd="med"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LU1 · T3 · RISK-BASED REGULATION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EU AI Act Compliance Waterfall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64208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The EU AI Act regulates by the risk a system poses, not by the technology it uses.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40280"/>
            <a:ext cx="2425446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240280"/>
            <a:ext cx="2425446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615059" y="2587752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15059" y="2587752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" y="3566160"/>
            <a:ext cx="2132838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Unacceptable risk — prohibited outright (social scoring, manipulative systems)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66110" y="333756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13582" y="2240280"/>
            <a:ext cx="2425446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13582" y="2240280"/>
            <a:ext cx="2425446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351401" y="2587752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51401" y="2587752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9886" y="3566160"/>
            <a:ext cx="2132838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High risk — conformity assessment, risk management, human oversight, logging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02452" y="333756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49924" y="2240280"/>
            <a:ext cx="2425446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49924" y="2240280"/>
            <a:ext cx="2425446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087743" y="2587752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87743" y="2587752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96228" y="3566160"/>
            <a:ext cx="2132838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Limited risk — transparency obligations (users must know they are dealing with AI)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38794" y="333756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86266" y="2240280"/>
            <a:ext cx="2425446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986266" y="2240280"/>
            <a:ext cx="2425446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824085" y="2587752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24085" y="2587752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32570" y="3566160"/>
            <a:ext cx="2132838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Minimal risk — no additional obligation; voluntary codes of conduct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5257800"/>
            <a:ext cx="10634472" cy="8229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5257800"/>
            <a:ext cx="91440" cy="8229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" y="5257800"/>
            <a:ext cx="100584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Classify the system FIRST — every downstream obligation follows from the risk tier.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  <p:transition spd="med">
    <p:fade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LU1 · T3 · WHAT GOES WRONG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Three Pillars of Algorithmic Risk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057400"/>
            <a:ext cx="5180076" cy="19156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057400"/>
            <a:ext cx="91440" cy="19156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221992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Transparency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624328"/>
            <a:ext cx="4677156" cy="1275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Neither the affected person nor often the operator can see why the system produced its output — so the decision cannot be contested or corrected.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2057400"/>
            <a:ext cx="5180076" cy="19156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2057400"/>
            <a:ext cx="91440" cy="19156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05956" y="2221992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Algorithmic bias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05956" y="2624328"/>
            <a:ext cx="4677156" cy="1275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Systematically unfair outcomes for particular groups, arising from data, objective or deployment context.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4210812"/>
            <a:ext cx="5180076" cy="19156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4210812"/>
            <a:ext cx="91440" cy="19156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4375404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Data privacy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777740"/>
            <a:ext cx="4677156" cy="1275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Personal data is used for training or inference without a lawful basis, adequate safeguards or the individual's awareness.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31636" y="4210812"/>
            <a:ext cx="5180076" cy="19156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1636" y="4210812"/>
            <a:ext cx="91440" cy="19156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05956" y="4375404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59E0B"/>
                </a:solidFill>
                <a:latin typeface="Arial"/>
              </a:rPr>
              <a:t>The governing response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05956" y="4777740"/>
            <a:ext cx="4677156" cy="1275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National AI policy — the EU AI Act, NIST AI 600-1, Canada's AIDA and Singapore's AI Verify / Model AI Governance Framework — each address these three pillars with different instruments.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  <p:transition spd="med">
    <p:fade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LU1 · T3 · THE NON-NEGOTIABLE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The ultimate safeguard requires a human in the loop.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Automation is acceptable where the cost of an error is low and reversible. Where it is high-stakes and irreversible, a qualified human must remain accountable for the decision — not merely present to rubber-stamp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  <p:transition spd="med">
    <p:fade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LU1 · T4 · PROFESSIONAL SCEPTICISM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Automation Bias — The Vulnerability in the Human Filter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64208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Human oversight fails predictably when people defer to a confident machine.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057400"/>
            <a:ext cx="5180076" cy="19156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57400"/>
            <a:ext cx="91440" cy="19156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221992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What it 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624328"/>
            <a:ext cx="4677156" cy="1275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The tendency to over-trust an automated system — accepting its output without the scrutiny you would apply to a human colleague's work.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2057400"/>
            <a:ext cx="5180076" cy="19156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2057400"/>
            <a:ext cx="91440" cy="19156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05956" y="2221992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Why it happens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5956" y="2624328"/>
            <a:ext cx="4677156" cy="1275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Fluency reads as competence. AI output is grammatical, confident and well-formatted, and those cues are the ones humans use to judge reliability.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210812"/>
            <a:ext cx="5180076" cy="19156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210812"/>
            <a:ext cx="91440" cy="19156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4375404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How it compounds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777740"/>
            <a:ext cx="4677156" cy="1275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Time pressure, high volume and a good track record all reduce checking — so the review becomes a formality exactly as the system's errors become rarer and harder to spot.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1636" y="4210812"/>
            <a:ext cx="5180076" cy="19156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1636" y="4210812"/>
            <a:ext cx="91440" cy="19156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05956" y="4375404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59E0B"/>
                </a:solidFill>
                <a:latin typeface="Arial"/>
              </a:rPr>
              <a:t>The counter-measure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05956" y="4777740"/>
            <a:ext cx="4677156" cy="1275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Structured verification: check the claim against the source, not against your impression of the output. Verify names, numbers, citations and dates independently every time.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  <p:transition spd="med">
    <p:fade/>
  </p:transition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In-Class Activities — Ethical Principles of Generative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43656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43656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88645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Activities 1–2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886456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AI Ethical Dilemma Simulator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AI Ethical Principles Quiz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22648" y="1783080"/>
            <a:ext cx="3343656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22648" y="1783080"/>
            <a:ext cx="3343656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51248" y="2011680"/>
            <a:ext cx="288645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Activities 3–4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51248" y="2697480"/>
            <a:ext cx="2886456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Prompt Injection Playground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Ethical Decision-Making Framework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68056" y="1783080"/>
            <a:ext cx="3343656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68056" y="1783080"/>
            <a:ext cx="3343656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6656" y="2011680"/>
            <a:ext cx="288645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Activities 5–6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6656" y="2697480"/>
            <a:ext cx="2886456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AI Output Scepticism Checker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The Cognitive Threat Matrix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  <p:transition spd="med">
    <p:fade/>
  </p:transition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LU1 · ACTIVITY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AI Ethical Dilemma Simulator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73736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173736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ACTIVITY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40280"/>
            <a:ext cx="10698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Work through six real-world AI dilemmas — from AI-generated hospital discharge summaries to resume-screening bias — choosing the most defensible course of action in each and reading the consequences of the choice you made.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127248"/>
            <a:ext cx="5486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WORKFLOW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535277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35277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Read the dilemma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68219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51683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51683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709720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09720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1411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Choose a response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2662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26126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26126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884163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84163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35854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Study the analysis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17105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00569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00569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058606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58606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10297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Repeat across 6 domains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91548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475012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475012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33049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33049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84740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Record your score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" y="5257800"/>
            <a:ext cx="10634472" cy="89611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77240" y="5257800"/>
            <a:ext cx="91440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97280" y="5349240"/>
            <a:ext cx="7863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YOU'LL PRODUCE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" y="5623560"/>
            <a:ext cx="7863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 completed 6-scenario run with your score out of 6 and notes on the stakeholders and ethical principles at stake in each dilemma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52560" y="5257800"/>
            <a:ext cx="214884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Duration</a:t>
            </a:r>
          </a:p>
          <a:p>
            <a:pPr algn="r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10 minutes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  <p:transition spd="med">
    <p:fade/>
  </p:transition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LU1 · ACTIVITY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AI Ethical Principles Quiz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73736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173736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ACTIVITY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40280"/>
            <a:ext cx="10698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Test your grasp of the principles that underpin trustworthy AI — fairness, transparency, accountability, privacy, beneficence and human agency — across ten applied questions.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127248"/>
            <a:ext cx="5486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WORKFLOW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535277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35277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Answer 10 questions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68219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51683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51683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709720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09720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1411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Read each explanation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2662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26126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26126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884163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84163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35854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Track correct / incorrect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17105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00569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00569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058606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58606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10297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Review your score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91548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475012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475012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33049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33049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84740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Retake the weak areas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" y="5257800"/>
            <a:ext cx="10634472" cy="89611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77240" y="5257800"/>
            <a:ext cx="91440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97280" y="5349240"/>
            <a:ext cx="7863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YOU'LL PRODUCE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" y="5623560"/>
            <a:ext cx="7863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 completed 10-question quiz with your score and the live Correct / Incorrect counters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52560" y="5257800"/>
            <a:ext cx="214884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Duration</a:t>
            </a:r>
          </a:p>
          <a:p>
            <a:pPr algn="r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10 minutes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  <p:transition spd="med">
    <p:fade/>
  </p:transition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LU1 · ACTIVITY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Prompt Injection Playground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73736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173736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ACTIVITY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40280"/>
            <a:ext cx="10698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Attack three simulated AI assistants — an undefended customer-service bot, a banking assistant with basic defences and a medical triage AI with strong defences — and see which injections get through each layer of protection.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127248"/>
            <a:ext cx="5486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WORKFLOW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535277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35277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Learn the attack types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68219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51683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51683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709720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09720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1411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Attack Level 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2662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26126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26126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884163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84163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35854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Escalate to Level 2 &amp; 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17105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00569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00569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058606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58606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10297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Read each verdict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91548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475012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475012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33049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33049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84740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Record the scoreboard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" y="5257800"/>
            <a:ext cx="10634472" cy="89611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77240" y="5257800"/>
            <a:ext cx="91440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97280" y="5349240"/>
            <a:ext cx="7863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YOU'LL PRODUCE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" y="5623560"/>
            <a:ext cx="7863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An Attack Scoreboard showing your total attempts, successful injections, success rate and which of the three scenarios you breached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52560" y="5257800"/>
            <a:ext cx="214884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Duration</a:t>
            </a:r>
          </a:p>
          <a:p>
            <a:pPr algn="r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10 minutes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  <p:transition spd="med">
    <p:fade/>
  </p:transition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LU1 · ACTIVITY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Ethical Decision-Making Framework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73736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173736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ACTIVITY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40280"/>
            <a:ext cx="10698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Take one contested AI deployment through a six-stage structured ethical analysis — scenario, stakeholders, risks, principles, alternatives, decision — and produce a defensible, documented recommendation rather than a gut reaction.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127248"/>
            <a:ext cx="5486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WORKFLOW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535277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35277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Define the scenario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68219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51683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51683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709720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09720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1411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Map stakeholders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2662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26126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26126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884163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84163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35854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Weigh risks &amp; benefits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17105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00569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00569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058606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58606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10297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Apply the principles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91548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475012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475012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33049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33049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84740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Decide &amp; plan monitoring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" y="5257800"/>
            <a:ext cx="10634472" cy="89611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77240" y="5257800"/>
            <a:ext cx="91440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97280" y="5349240"/>
            <a:ext cx="7863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YOU'LL PRODUCE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" y="5623560"/>
            <a:ext cx="7863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 printed 'Ethical Decision Analysis Summary' report with all eight sections completed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52560" y="5257800"/>
            <a:ext cx="214884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Duration</a:t>
            </a:r>
          </a:p>
          <a:p>
            <a:pPr algn="r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15 minutes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  <p:transition spd="med">
    <p:fade/>
  </p:transition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LU1 · ACTIVITY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AI Output Scepticism Checker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73736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173736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ACTIVITY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40280"/>
            <a:ext cx="10698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Evaluate confident, fluent, and quietly wrong AI-generated text against a 16-point scepticism checklist, and score how far it can actually be trusted.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127248"/>
            <a:ext cx="5486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WORKFLOW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535277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35277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Load AI-generated 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68219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51683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51683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709720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09720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1411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Work the 16 checks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2662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26126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26126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884163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84163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35854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Set each severity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17105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00569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00569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058606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58606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10297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Calculate the score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91548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475012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475012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33049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33049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84740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Read the recommendations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" y="5257800"/>
            <a:ext cx="10634472" cy="89611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77240" y="5257800"/>
            <a:ext cx="91440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97280" y="5349240"/>
            <a:ext cx="7863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YOU'LL PRODUCE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" y="5623560"/>
            <a:ext cx="7863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 scepticism score out of 100 with a risk verdict and the recommendations list for the text you assessed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52560" y="5257800"/>
            <a:ext cx="214884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Duration</a:t>
            </a:r>
          </a:p>
          <a:p>
            <a:pPr algn="r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10 minutes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  <p:transition spd="med">
    <p:fade/>
  </p:transition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LU1 · ACTIVITY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Cognitive Threat Matrix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73736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173736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ACTIVITY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40280"/>
            <a:ext cx="10698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Pair a human cognitive bias with the AI failure mode it amplifies — automation bias with hallucination, confirmation bias with skewed data — and generate a structured risk analysis of a scenario from your own workplace.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127248"/>
            <a:ext cx="5486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WORKFLOW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535277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35277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Enter your API key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68219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51683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51683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709720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09720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1411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Pick a threat pairing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2662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26126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26126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884163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84163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35854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Load or write a scenario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17105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00569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00569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058606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58606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10297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Generate the analysis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91548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475012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475012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33049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33049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84740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Extract the mitigations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" y="5257800"/>
            <a:ext cx="10634472" cy="89611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77240" y="5257800"/>
            <a:ext cx="91440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97280" y="5349240"/>
            <a:ext cx="7863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YOU'LL PRODUCE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" y="5623560"/>
            <a:ext cx="7863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 five-part AI risk analysis covering scenario overview, the bias at play, risk escalation, real-world impact and mitigation strategies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52560" y="5257800"/>
            <a:ext cx="214884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Duration</a:t>
            </a:r>
          </a:p>
          <a:p>
            <a:pPr algn="r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15 minutes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  <p:transition spd="med">
    <p:fade/>
  </p:transition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LU1 · OPEN THE ACTIVITIES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 Links — Ethical Principles of Generative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5303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5303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1773936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177393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9427464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Activity 1: AI Ethical Dilemma Simulator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https://tertiarycourses.github.io/TGS-2025060472-Responsible-Generative-AI-Basics/lu1-ethical-principles/ethical-dilemma/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551176"/>
            <a:ext cx="10634472" cy="5303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551176"/>
            <a:ext cx="91440" cy="5303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2679192"/>
            <a:ext cx="9427464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Activity 2: AI Ethical Principles Quiz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https://tertiarycourses.github.io/TGS-2025060472-Responsible-Generative-AI-Basics/lu1-ethical-principles/principles-quiz/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10634472" cy="5303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5303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310128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31012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9427464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Activity 3: Prompt Injection Playground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https://tertiarycourses.github.io/TGS-2025060472-Responsible-Generative-AI-Basics/lu1-ethical-principles/prompt-injection/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087368"/>
            <a:ext cx="10634472" cy="5303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087368"/>
            <a:ext cx="91440" cy="5303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3272" y="4078224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" y="407822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4215384"/>
            <a:ext cx="9427464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Activity 4: Ethical Decision-Making Framework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https://tertiarycourses.github.io/TGS-2025060472-Responsible-Generative-AI-Basics/lu1-ethical-principles/decision-framework/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10634472" cy="5303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5303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9427464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Activity 5: AI Output Scepticism Checker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https://tertiarycourses.github.io/TGS-2025060472-Responsible-Generative-AI-Basics/lu1-ethical-principles/skepticism-checker/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" y="5623560"/>
            <a:ext cx="10634472" cy="5303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77240" y="5623560"/>
            <a:ext cx="91440" cy="5303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33272" y="5614416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33272" y="561441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764792" y="5751576"/>
            <a:ext cx="9427464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Activity 6: The Cognitive Threat Matrix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https://tertiarycourses.github.io/TGS-2025060472-Responsible-Generative-AI-Basics/lu1-ethical-principles/cognitive-threat-matrix/   ·   Needs a Gemini API key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  <p:transition spd="med">
    <p:fade/>
  </p:transition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LU1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Ethical Principles of Generative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AI Ethical Dilemma Simulator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You can now: Recognise the ethical considerations and potential risks that arise when interacting with generative AI (K2).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AI Ethical Principles Quiz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You can now: Identify and apply the core ethical principles in AI (K4).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Prompt Injection Playground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You can now: Explain how prompt injection threatens AI safety and how layered defences reduce the risk (K2).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Ethical Decision-Making Framework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You can now: Apply ethical principles systematically in decision-making related to AI (A1).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AI Output Scepticism Checker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You can now: Exercise professional scepticism to exercise sound judgement on generative AI output (A2).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The Cognitive Threat Matrix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You can now: Analyse how human cognitive bias combines with generative AI failure modes to escalate risk (K2, A2).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  <p:transition spd="med">
    <p:fade/>
  </p:transition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LU2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Generative AI Privacy Techniques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Anonymisation &amp; De-identification · Privacy Measures in Practice · Ethical Data Guidelines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LU2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  <p:transition spd="med">
    <p:fade/>
  </p:transition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LU2 · KEY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Generative AI Privacy Techniques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Anonymisation irreversibly severs the link to an individual; pseudonymisation only replaces identifiers and remains personal data under the PDPA and GDPR.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K-anonymity guarantees an individual cannot be distinguished from at least k-1 others by generalising or suppressing quasi-identifiers.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Release-based privacy fails when an attacker holds external auxiliary data — the re-identification attack that motivated stronger, computation-based guarantees.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The three layers of AI data security are the pipeline (encryption in transit and at rest), the model (training and memorisation controls) and the output (filtering).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Format-preserving encryption and data-shifting keep a field usable by downstream systems while removing its identifying power.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An ethical AI data policy classifies data as prohibited, restricted or permitted for AI input, and pairs each class with a mandated safeguard.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  <p:transition spd="med">
    <p:fade/>
  </p:transition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LU2 · T1 · THE DISTINCTION THAT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Legal Baseline — Anonymisation vs Pseudonymisation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64208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Getting this wrong is the single most common privacy compliance error in AI projects.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80" y="2103120"/>
            <a:ext cx="4242816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0" y="2103120"/>
            <a:ext cx="424281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Pseudonymisation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68896" y="2103120"/>
            <a:ext cx="4242816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68896" y="2103120"/>
            <a:ext cx="424281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Anonymisation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560320"/>
            <a:ext cx="2148840" cy="8915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560320"/>
            <a:ext cx="1874520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What it does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26080" y="2560320"/>
            <a:ext cx="4242816" cy="8915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90672" y="256032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Replaces identifiers with a token or key; the link to the individual is retained somewhere.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68896" y="2560320"/>
            <a:ext cx="4242816" cy="8915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33488" y="256032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Irreversibly severs the link — no key exists that can restore identity.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3451860"/>
            <a:ext cx="2148840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451860"/>
            <a:ext cx="1874520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Reversible?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26080" y="3451860"/>
            <a:ext cx="4242816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90672" y="345186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Yes — by anyone holding the mapping key.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68896" y="3451860"/>
            <a:ext cx="4242816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33488" y="345186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No — by design, not by policy.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4343400"/>
            <a:ext cx="2148840" cy="8915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43400"/>
            <a:ext cx="1874520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Still personal data?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26080" y="4343400"/>
            <a:ext cx="4242816" cy="8915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90672" y="434340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YES. Remains fully in scope of the PDPA and GDPR, with all obligations intact.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68896" y="4343400"/>
            <a:ext cx="4242816" cy="8915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33488" y="434340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No. Out of scope, because there is no longer an identifiable individual.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5234940"/>
            <a:ext cx="2148840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5234940"/>
            <a:ext cx="1874520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Typical use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26080" y="5234940"/>
            <a:ext cx="4242816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90672" y="523494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Internal analytics where re-identification must remain possible for legitimate operational reasons.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68896" y="5234940"/>
            <a:ext cx="4242816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33488" y="523494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Publishing, external sharing, or training data where re-identification must be impossible.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  <p:transition spd="med">
    <p:fade/>
  </p:transition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LU2 · T1 · GENERALISE UNTIL INDISTINGUISHABLE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Mechanics of K-Anonymity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64208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Guaranteeing an individual cannot be distinguished from at least k-1 others.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40280"/>
            <a:ext cx="1878177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41424" y="2587752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41424" y="2587752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" y="3566160"/>
            <a:ext cx="1585569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Identify direct identifiers (name, NRIC, email) and remove them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18841" y="333756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66313" y="2240280"/>
            <a:ext cx="1878177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66313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30497" y="2587752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30497" y="2587752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12617" y="3566160"/>
            <a:ext cx="1585569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Identify quasi-identifiers (age, postcode, gender) that combine to re-identify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7914" y="333756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55386" y="2240280"/>
            <a:ext cx="1878177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155386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719570" y="2587752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19570" y="2587752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1690" y="3566160"/>
            <a:ext cx="1585569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Generalise values — exact age becomes an age band, postcode loses digits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96987" y="333756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44459" y="2240280"/>
            <a:ext cx="1878177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44459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908643" y="2587752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08643" y="2587752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0763" y="3566160"/>
            <a:ext cx="1585569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Suppress records that remain unique even after generalisation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86060" y="333756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533532" y="2240280"/>
            <a:ext cx="1878177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533532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097716" y="2587752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97716" y="2587752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79836" y="3566160"/>
            <a:ext cx="1585569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Verify every combination of quasi-identifiers appears at least k times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257800"/>
            <a:ext cx="10634472" cy="8229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257800"/>
            <a:ext cx="91440" cy="8229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97280" y="5257800"/>
            <a:ext cx="100584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Its limit: k-anonymity fails when the attacker holds external auxiliary data, or when every record in a group shares the same sensitive value.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  <p:transition spd="med">
    <p:fade/>
  </p:transition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LU2 · T2 · DEFENCE IN DEPTH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Three Layers of AI Data Security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64208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Protecting data in an AI system means protecting it at rest, in computation and at output.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057400"/>
            <a:ext cx="5180076" cy="19156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57400"/>
            <a:ext cx="91440" cy="19156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221992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Layer 1 — The pipeline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624328"/>
            <a:ext cx="4677156" cy="1275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Encryption in transit and at rest; access control; format-preserving encryption so a field stays usable by downstream systems while losing its identifying power; data shifting and masking.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2057400"/>
            <a:ext cx="5180076" cy="19156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2057400"/>
            <a:ext cx="91440" cy="19156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05956" y="2221992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Layer 2 — The 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5956" y="2624328"/>
            <a:ext cx="4677156" cy="1275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Controls on what enters training; the training paradox of balancing data utility against data privacy; differential privacy and DP-SGD to bound what any one record can contribute.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210812"/>
            <a:ext cx="5180076" cy="19156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210812"/>
            <a:ext cx="91440" cy="19156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4375404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Layer 3 — The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777740"/>
            <a:ext cx="4677156" cy="1275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Output filtering to catch memorised training data; guarding against LLM memorisation, where a model reproduces verbatim sensitive strings it saw during training.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1636" y="4210812"/>
            <a:ext cx="5180076" cy="19156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1636" y="4210812"/>
            <a:ext cx="91440" cy="19156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05956" y="4375404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59E0B"/>
                </a:solidFill>
                <a:latin typeface="Arial"/>
              </a:rPr>
              <a:t>The governance wrapper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05956" y="4777740"/>
            <a:ext cx="4677156" cy="1275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Know your tools · establish policy · lock down inputs · understand external threats · update training · review vendors · plan for incidents.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  <p:transition spd="med">
    <p:fade/>
  </p:transition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LU2 · T2 · THE OPERATIONAL CHECKLIST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7-Step Governance Checklist for AI Adoption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64208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This checklist is directly assessable — you should be able to reproduce all seven steps.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057400"/>
            <a:ext cx="5180076" cy="83896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57400"/>
            <a:ext cx="91440" cy="83896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167128"/>
            <a:ext cx="467715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1 · Know your tools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514600"/>
            <a:ext cx="4677156" cy="308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Inventory every AI tool actually in use, including the shadow IT that staff adopted without approval.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2057400"/>
            <a:ext cx="5180076" cy="83896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2057400"/>
            <a:ext cx="91440" cy="83896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05956" y="2167128"/>
            <a:ext cx="467715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2 · Establish policy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5956" y="2514600"/>
            <a:ext cx="4677156" cy="308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Classify data as prohibited, restricted or permitted for AI, and publish it.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3134106"/>
            <a:ext cx="5180076" cy="83896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3134106"/>
            <a:ext cx="91440" cy="83896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3243834"/>
            <a:ext cx="467715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3 · Lock down inputs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3591306"/>
            <a:ext cx="4677156" cy="308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Anonymise or mask data before anything reaches a model.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1636" y="3134106"/>
            <a:ext cx="5180076" cy="83896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1636" y="3134106"/>
            <a:ext cx="91440" cy="83896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05956" y="3243834"/>
            <a:ext cx="467715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4 · Understand external threats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05956" y="3591306"/>
            <a:ext cx="4677156" cy="308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Prompt injection, data exfiltration, model extraction and vendor breach.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4210812"/>
            <a:ext cx="5180076" cy="83896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77240" y="4210812"/>
            <a:ext cx="91440" cy="83896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1560" y="4320540"/>
            <a:ext cx="467715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5 · Update training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4668012"/>
            <a:ext cx="4677156" cy="308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Staff must know the limits of the tools they are given.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31636" y="4210812"/>
            <a:ext cx="5180076" cy="83896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31636" y="4210812"/>
            <a:ext cx="91440" cy="83896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05956" y="4320540"/>
            <a:ext cx="467715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6 · Review vendors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05956" y="4668012"/>
            <a:ext cx="4677156" cy="308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Retention, training use, sub-processors, jurisdiction and incident history.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" y="5287518"/>
            <a:ext cx="5180076" cy="83896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77240" y="5287518"/>
            <a:ext cx="91440" cy="83896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51560" y="5397246"/>
            <a:ext cx="467715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7 · Plan for incidents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" y="5744718"/>
            <a:ext cx="4677156" cy="308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Detection, reporting deadline, assessment, notification and remediation.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  <p:transition spd="med">
    <p:fade/>
  </p:transition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LU2 · T1 · TECHNIQUE SELECTION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Choosing the Right Protection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64208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Each technique buys a different guarantee at a different cost to utility.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80" y="2103120"/>
            <a:ext cx="4242816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0" y="2103120"/>
            <a:ext cx="424281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Protects against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68896" y="2103120"/>
            <a:ext cx="4242816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68896" y="2103120"/>
            <a:ext cx="424281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Cost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560320"/>
            <a:ext cx="214884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560320"/>
            <a:ext cx="18745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Masking / redaction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26080" y="2560320"/>
            <a:ext cx="4242816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90672" y="2560320"/>
            <a:ext cx="39136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Casual inspection of directly identifying fields.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68896" y="2560320"/>
            <a:ext cx="4242816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33488" y="2560320"/>
            <a:ext cx="39136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Cheap and fast, but destroys the field's analytical value entirely.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3273552"/>
            <a:ext cx="21488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273552"/>
            <a:ext cx="18745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K-anonymity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26080" y="3273552"/>
            <a:ext cx="4242816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90672" y="3273552"/>
            <a:ext cx="39136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Singling out an individual from quasi-identifiers.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68896" y="3273552"/>
            <a:ext cx="4242816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33488" y="3273552"/>
            <a:ext cx="39136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Moderate loss of granularity; fails against auxiliary-data attacks.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3986784"/>
            <a:ext cx="214884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3986784"/>
            <a:ext cx="18745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Differential privacy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26080" y="3986784"/>
            <a:ext cx="4242816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90672" y="3986784"/>
            <a:ext cx="39136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Inferring whether any individual was in the dataset at all.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68896" y="3986784"/>
            <a:ext cx="4242816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33488" y="3986784"/>
            <a:ext cx="39136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Adds calibrated noise — a formal guarantee paid for in accuracy.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4700016"/>
            <a:ext cx="21488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4700016"/>
            <a:ext cx="18745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Homomorphic encryption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26080" y="4700016"/>
            <a:ext cx="4242816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90672" y="4700016"/>
            <a:ext cx="39136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Exposure during computation — data never decrypted to be processed.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68896" y="4700016"/>
            <a:ext cx="4242816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33488" y="4700016"/>
            <a:ext cx="39136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Strongest guarantee, but computationally very slow.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" y="5413248"/>
            <a:ext cx="214884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5413248"/>
            <a:ext cx="18745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Synthetic data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926080" y="5413248"/>
            <a:ext cx="4242816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90672" y="5413248"/>
            <a:ext cx="39136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Direct exposure of any real record.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168896" y="5413248"/>
            <a:ext cx="4242816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33488" y="5413248"/>
            <a:ext cx="39136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Useful when masking destroys utility; fidelity and residual leakage must be validated.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  <p:transition spd="med">
    <p:fade/>
  </p:transition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LU2 · T3 · THE EXECUTIVE PLAYBOOK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Designing an Ethical AI Data Policy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2425446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>
                <a:solidFill>
                  <a:srgbClr val="D7DFEA"/>
                </a:solidFill>
                <a:latin typeface="Arial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97480"/>
            <a:ext cx="2425446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Classify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401568"/>
            <a:ext cx="2425446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Sort every data category into PROHIBITED (never enters an AI tool), RESTRICTED (only with safeguards) and PERMITTED (freely usable).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13582" y="1828800"/>
            <a:ext cx="2425446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>
                <a:solidFill>
                  <a:srgbClr val="D7DFEA"/>
                </a:solidFill>
                <a:latin typeface="Arial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13582" y="2697480"/>
            <a:ext cx="2425446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Comply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3582" y="3401568"/>
            <a:ext cx="2425446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Name the regimes that bind you — PDPA as the Singapore baseline, plus GDPR, HIPAA or the EU AI Act where applicable.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49924" y="1828800"/>
            <a:ext cx="2425446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>
                <a:solidFill>
                  <a:srgbClr val="D7DFEA"/>
                </a:solidFill>
                <a:latin typeface="Arial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49924" y="2697480"/>
            <a:ext cx="2425446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Safeguard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49924" y="3401568"/>
            <a:ext cx="2425446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Mandate the specific controls: anonymisation before input, encryption, role-based access, audit logging and human review of outputs.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86266" y="1828800"/>
            <a:ext cx="2425446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>
                <a:solidFill>
                  <a:srgbClr val="D7DFEA"/>
                </a:solidFill>
                <a:latin typeface="Arial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86266" y="2697480"/>
            <a:ext cx="2425446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59E0B"/>
                </a:solidFill>
                <a:latin typeface="Arial"/>
              </a:rPr>
              <a:t>Respond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86266" y="3401568"/>
            <a:ext cx="2425446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Define detection, a reporting deadline, severity assessment, notification and a post-incident review that updates the policy.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5440680"/>
            <a:ext cx="10634472" cy="7315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5440680"/>
            <a:ext cx="91440" cy="7315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5440680"/>
            <a:ext cx="10058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Trust is engineered, not accidental — a policy nobody can follow protects nobody.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  <p:transition spd="med">
    <p:fade/>
  </p:transition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In-Class Activities — Generative AI Privacy Techniques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663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51663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4709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Activities 7–8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47091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Data Anonymisation Techniques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Python Data Anonymisation Pipeline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45352" y="1783080"/>
            <a:ext cx="51663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45352" y="1783080"/>
            <a:ext cx="51663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2011680"/>
            <a:ext cx="4709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Activities 9–9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2697480"/>
            <a:ext cx="47091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Ethical AI Data Policy Generator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  <p:transition spd="med">
    <p:fade/>
  </p:transition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LU2 · ACTIVITY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Data Anonymisation Techniques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73736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173736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ACTIVITY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40280"/>
            <a:ext cx="10698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Run one set of sensitive records through four different anonymisation techniques side by side, and see why only some of them actually remove the re-identification risk.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127248"/>
            <a:ext cx="5486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WORKFLOW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535277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35277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Enter your API key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68219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51683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51683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709720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09720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1411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Generate sample records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2662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26126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26126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884163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84163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35854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Apply all 4 techniques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17105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00569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00569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058606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58606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10297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Compare the techniques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91548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475012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475012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33049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33049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84740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Compare the reviewers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" y="5257800"/>
            <a:ext cx="10634472" cy="89611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77240" y="5257800"/>
            <a:ext cx="91440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97280" y="5349240"/>
            <a:ext cx="7863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YOU'LL PRODUCE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" y="5623560"/>
            <a:ext cx="7863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 side-by-side comparison table showing the same record under all four techniques, including three different reviewers' subjective judgements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52560" y="5257800"/>
            <a:ext cx="214884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Duration</a:t>
            </a:r>
          </a:p>
          <a:p>
            <a:pPr algn="r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15 minutes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  <p:transition spd="med">
    <p:fade/>
  </p:transition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LU2 · ACTIVITY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Python Data Anonymisation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73736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173736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ACTIVITY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40280"/>
            <a:ext cx="10698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Build a seven-stage anonymisation pipeline over a raw dataset — pseudo-IDs, text shifting, masking, generalisation and column dropping — then export both the anonymised data and the Python code that produced 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127248"/>
            <a:ext cx="5486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WORKFLOW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535277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35277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Load a raw dataset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68219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51683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51683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709720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09720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1411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Select the techniques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2662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26126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26126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884163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84163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35854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Run the pipeline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17105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00569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00569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058606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58606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10297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Inspect the output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91548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475012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475012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33049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33049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84740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Export CSV + code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" y="5257800"/>
            <a:ext cx="10634472" cy="89611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77240" y="5257800"/>
            <a:ext cx="91440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97280" y="5349240"/>
            <a:ext cx="7863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YOU'LL PRODUCE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" y="5623560"/>
            <a:ext cx="7863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An exported anonymised CSV plus the generated Python script implementing your chosen techniques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52560" y="5257800"/>
            <a:ext cx="214884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Duration</a:t>
            </a:r>
          </a:p>
          <a:p>
            <a:pPr algn="r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15 minutes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47</a:t>
            </a:r>
          </a:p>
        </p:txBody>
      </p:sp>
    </p:spTree>
  </p:cSld>
  <p:clrMapOvr>
    <a:masterClrMapping/>
  </p:clrMapOvr>
  <p:transition spd="med">
    <p:fade/>
  </p:transition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LU2 · ACTIVITY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Ethical AI Data Policy Generator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73736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173736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ACTIVITY 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40280"/>
            <a:ext cx="10698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Produce a complete, organisation-specific AI data-handling policy through a guided five-step wizard — the document that tells your colleagues what they may and may not paste into an AI tool.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127248"/>
            <a:ext cx="5486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WORKFLOW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535277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35277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Profile the organisation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68219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51683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51683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709720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09720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1411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Classify the data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2662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26126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26126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884163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84163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35854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Select the regulations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17105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00569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00569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058606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58606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10297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Choose the safeguards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91548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475012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475012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33049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33049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84740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Generate &amp; print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" y="5257800"/>
            <a:ext cx="10634472" cy="89611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77240" y="5257800"/>
            <a:ext cx="91440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97280" y="5349240"/>
            <a:ext cx="7863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YOU'LL PRODUCE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" y="5623560"/>
            <a:ext cx="7863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 printed seven-section 'AI Data Handling Policy' tailored to your organisation, sector and risk tolerance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52560" y="5257800"/>
            <a:ext cx="214884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Duration</a:t>
            </a:r>
          </a:p>
          <a:p>
            <a:pPr algn="r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15 minutes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48</a:t>
            </a:r>
          </a:p>
        </p:txBody>
      </p:sp>
    </p:spTree>
  </p:cSld>
  <p:clrMapOvr>
    <a:masterClrMapping/>
  </p:clrMapOvr>
  <p:transition spd="med">
    <p:fade/>
  </p:transition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LU2 · OPEN THE ACTIVITIES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 Links — Generative AI Privacy Techniques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9427464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Activity 7: Data Anonymisation Techniques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https://tertiarycourses.github.io/TGS-2025060472-Responsible-Generative-AI-Basics/lu2-privacy/dataprivacy/   ·   Needs a Gemini API key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319272"/>
            <a:ext cx="1063447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3447288"/>
            <a:ext cx="9427464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Activity 8: Python Data Anonymisation Pipeline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https://tertiarycourses.github.io/TGS-2025060472-Responsible-Generative-AI-Basics/lu2-privacy/anonymizer-python/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855464"/>
            <a:ext cx="1063447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983480"/>
            <a:ext cx="9427464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Activity 9: Ethical AI Data Policy Generator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https://tertiarycourses.github.io/TGS-2025060472-Responsible-Generative-AI-Basics/lu2-privacy/privacy-policy/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49</a:t>
            </a:r>
          </a:p>
        </p:txBody>
      </p:sp>
    </p:spTree>
  </p:cSld>
  <p:clrMapOvr>
    <a:masterClrMapping/>
  </p:clrMapOvr>
  <p:transition spd="med">
    <p:fade/>
  </p:transition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LU2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Generative AI Privacy Techniques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Data Anonymisation Techniques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You can now: Distinguish the anonymisation spectrum — de-identification, pseudonymisation, objective and subjective anonymisation (K1).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Python Data Anonymisation Pipeline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You can now: Apply privacy measures when handling data for AI applications by building an anonymisation pipeline (A3).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Ethical AI Data Policy Generator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You can now: Design guidelines or strategies for ethical AI use, including use of sensitive data in generative AI tools (A4).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50</a:t>
            </a:r>
          </a:p>
        </p:txBody>
      </p:sp>
    </p:spTree>
  </p:cSld>
  <p:clrMapOvr>
    <a:masterClrMapping/>
  </p:clrMapOvr>
  <p:transition spd="med">
    <p:fade/>
  </p:transition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LU3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Best Practices of Responsible Generative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Responsible AI Principles · Comparing AI Systems · Comparing Ethical Issues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LU3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51</a:t>
            </a:r>
          </a:p>
        </p:txBody>
      </p:sp>
    </p:spTree>
  </p:cSld>
  <p:clrMapOvr>
    <a:masterClrMapping/>
  </p:clrMapOvr>
  <p:transition spd="med">
    <p:fade/>
  </p:transition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LU3 · KEY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Best Practices of Responsible Generative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The EU AI Act regulates by risk tier — unacceptable, high, limited and minimal — with obligations that scale to the harm the system can cause.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ISO/IEC 42005:2025 gives an internal, non-certifiable structure for assessing an AI system's impact on individuals, groups and society across its lifecycle.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Differential privacy is a mathematical guarantee: the output does not reveal whether any single individual's record was in the dataset, tuned by the epsilon budget.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Comparing AI systems responsibly means scoring them on intellectual property provenance, data privacy posture and environmental cost — not accuracy alone.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'Green AI' routes appropriate tasks to small language models, cutting energy and cost against the 'Red AI' default of always using the largest frontier model.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Explainability trades off against raw accuracy; XAI frameworks such as SHAP and LIME recover interpretability where the decision affects people's lives.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52</a:t>
            </a:r>
          </a:p>
        </p:txBody>
      </p:sp>
    </p:spTree>
  </p:cSld>
  <p:clrMapOvr>
    <a:masterClrMapping/>
  </p:clrMapOvr>
  <p:transition spd="med">
    <p:fade/>
  </p:transition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LU3 · T1 · WHAT RESPONSIBLE DEPLOYMENT REQUIRES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Three Pillars of Safe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057400"/>
            <a:ext cx="5180076" cy="19156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057400"/>
            <a:ext cx="91440" cy="19156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221992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Intellectual property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624328"/>
            <a:ext cx="4677156" cy="1275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Was the training data licensed? Who owns the output? Getty Images v Stability AI put provenance of training data at the centre of the question.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2057400"/>
            <a:ext cx="5180076" cy="19156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2057400"/>
            <a:ext cx="91440" cy="19156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05956" y="2221992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Data privacy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05956" y="2624328"/>
            <a:ext cx="4677156" cy="1275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What personal data entered the model, under what lawful basis, and can it be extracted again through memorisation?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4210812"/>
            <a:ext cx="5180076" cy="19156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4210812"/>
            <a:ext cx="91440" cy="19156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4375404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Environmental impact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777740"/>
            <a:ext cx="4677156" cy="1275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Energy, water and carbon per training run and per inference — the cost that scales with every user you add.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31636" y="4210812"/>
            <a:ext cx="5180076" cy="19156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1636" y="4210812"/>
            <a:ext cx="91440" cy="19156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05956" y="4375404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59E0B"/>
                </a:solidFill>
                <a:latin typeface="Arial"/>
              </a:rPr>
              <a:t>The unifying question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05956" y="4777740"/>
            <a:ext cx="4677156" cy="1275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Responsible comparison scores systems on all three, not on benchmark accuracy alone. A more accurate model with unlicensed training data and no privacy posture is not the better choice.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53</a:t>
            </a:r>
          </a:p>
        </p:txBody>
      </p:sp>
    </p:spTree>
  </p:cSld>
  <p:clrMapOvr>
    <a:masterClrMapping/>
  </p:clrMapOvr>
  <p:transition spd="med">
    <p:fade/>
  </p:transition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LU3 · T1 · IMPACT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ISO/IEC 42005 — The Assessment Lifecycle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64208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ISO/IEC 42005:2025 — internal guidance for assessing an AI system's impact on individuals, groups and society. Not a certification standard; you do not need an external auditor.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40280"/>
            <a:ext cx="1513332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240280"/>
            <a:ext cx="1513332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9002" y="2587752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59002" y="2587752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" y="3566160"/>
            <a:ext cx="122072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Define scope, purpose and the context of 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53996" y="333756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01468" y="2240280"/>
            <a:ext cx="1513332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601468" y="2240280"/>
            <a:ext cx="1513332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983230" y="2587752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83230" y="2587752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7772" y="3566160"/>
            <a:ext cx="122072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Identify affected individuals, groups and society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78224" y="333756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25696" y="2240280"/>
            <a:ext cx="1513332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425696" y="2240280"/>
            <a:ext cx="1513332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807458" y="2587752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07458" y="2587752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3566160"/>
            <a:ext cx="122072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Assess potential harms and benefits across the lifecycle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02452" y="333756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49924" y="2240280"/>
            <a:ext cx="1513332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49924" y="2240280"/>
            <a:ext cx="1513332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631686" y="2587752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31686" y="2587752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96228" y="3566160"/>
            <a:ext cx="122072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Determine controls and mitigations for each identified harm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26680" y="333756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74152" y="2240280"/>
            <a:ext cx="1513332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74152" y="2240280"/>
            <a:ext cx="1513332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455914" y="2587752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55914" y="2587752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0456" y="3566160"/>
            <a:ext cx="122072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Document the assessment and its residual risk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50908" y="333756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898380" y="2240280"/>
            <a:ext cx="1513332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898380" y="2240280"/>
            <a:ext cx="1513332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280142" y="2587752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280142" y="2587752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44684" y="3566160"/>
            <a:ext cx="122072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Review and re-assess when the system or its context changes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77240" y="5257800"/>
            <a:ext cx="10634472" cy="8229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77240" y="5257800"/>
            <a:ext cx="91440" cy="8229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97280" y="5257800"/>
            <a:ext cx="100584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Use it internally to bring structure to how consequences are evaluated — from planning and design through deployment and monitoring.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54</a:t>
            </a:r>
          </a:p>
        </p:txBody>
      </p:sp>
    </p:spTree>
  </p:cSld>
  <p:clrMapOvr>
    <a:masterClrMapping/>
  </p:clrMapOvr>
  <p:transition spd="med">
    <p:fade/>
  </p:transition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LU3 · T1 · THE PRIVACY-UTILITY DIAL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Differential Privacy — The Epsilon Budget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64208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Epsilon (ε) quantifies privacy loss: lower means stronger privacy and noisier answers.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40280"/>
            <a:ext cx="3300984" cy="28346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240280"/>
            <a:ext cx="3300984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651760"/>
            <a:ext cx="3300984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5200" b="1">
                <a:solidFill>
                  <a:srgbClr val="1F6FEB"/>
                </a:solidFill>
                <a:latin typeface="Arial"/>
              </a:rPr>
              <a:t>ε ≤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931920"/>
            <a:ext cx="2843784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Strong privacy — high noise, suitable for publishing sensitive statistics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43984" y="2240280"/>
            <a:ext cx="3300984" cy="28346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43984" y="2240280"/>
            <a:ext cx="3300984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43984" y="2651760"/>
            <a:ext cx="3300984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5200" b="1">
                <a:solidFill>
                  <a:srgbClr val="10B981"/>
                </a:solidFill>
                <a:latin typeface="Arial"/>
              </a:rPr>
              <a:t>ε ≈ 1–10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2584" y="3931920"/>
            <a:ext cx="2843784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Moderate — the practical working range for most deployed systems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10728" y="2240280"/>
            <a:ext cx="3300984" cy="28346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10728" y="2240280"/>
            <a:ext cx="3300984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10728" y="2651760"/>
            <a:ext cx="3300984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5200" b="1">
                <a:solidFill>
                  <a:srgbClr val="7C3AED"/>
                </a:solidFill>
                <a:latin typeface="Arial"/>
              </a:rPr>
              <a:t>ε &gt; 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8" y="3931920"/>
            <a:ext cx="2843784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Weak — the formal guarantee becomes close to meaningless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5349240"/>
            <a:ext cx="10634472" cy="777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5349240"/>
            <a:ext cx="91440" cy="7772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534924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DP-SGD applies this during training: clip each example's gradient to bound its influence, then add calibrated noise — so no single person's data can be recovered from the model.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55</a:t>
            </a:r>
          </a:p>
        </p:txBody>
      </p:sp>
    </p:spTree>
  </p:cSld>
  <p:clrMapOvr>
    <a:masterClrMapping/>
  </p:clrMapOvr>
  <p:transition spd="med">
    <p:fade/>
  </p:transition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LU3 · T2 · THE GLOBAL REGULATORY FRACTURE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Comparison of AI Regulations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64208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There is no single global AI regime — comparing systems means comparing against several.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80" y="2103120"/>
            <a:ext cx="4242816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0" y="2103120"/>
            <a:ext cx="424281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Approach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68896" y="2103120"/>
            <a:ext cx="4242816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68896" y="2103120"/>
            <a:ext cx="424281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Binding force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560320"/>
            <a:ext cx="2148840" cy="8915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560320"/>
            <a:ext cx="1874520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EU AI Act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26080" y="2560320"/>
            <a:ext cx="4242816" cy="8915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90672" y="256032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Risk-tiered: prohibited, high, limited and minimal risk, with obligations scaled to the tier.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68896" y="2560320"/>
            <a:ext cx="4242816" cy="8915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33488" y="256032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Binding law with substantial financial penalties.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3451860"/>
            <a:ext cx="2148840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451860"/>
            <a:ext cx="1874520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NIST AI 600-1 (US)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26080" y="3451860"/>
            <a:ext cx="4242816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90672" y="345186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 companion to the AI Risk Management Framework addressing risks specific to generative AI.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68896" y="3451860"/>
            <a:ext cx="4242816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33488" y="345186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Voluntary framework; influential in procurement and practice.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4343400"/>
            <a:ext cx="2148840" cy="8915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43400"/>
            <a:ext cx="1874520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Canada AIDA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26080" y="4343400"/>
            <a:ext cx="4242816" cy="8915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90672" y="434340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Focused on 'high-impact' systems, with obligations on assessment and mitigation.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68896" y="4343400"/>
            <a:ext cx="4242816" cy="8915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33488" y="434340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Proposed legislation.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5234940"/>
            <a:ext cx="2148840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5234940"/>
            <a:ext cx="1874520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Singapore AI Verify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26080" y="5234940"/>
            <a:ext cx="4242816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90672" y="523494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Testing framework of 11 principles across process checks and technical tests, with the Model AI Governance Framework.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68896" y="5234940"/>
            <a:ext cx="4242816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33488" y="523494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Voluntary, industry-led; the practical baseline for Singapore organisations.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56</a:t>
            </a:r>
          </a:p>
        </p:txBody>
      </p:sp>
    </p:spTree>
  </p:cSld>
  <p:clrMapOvr>
    <a:masterClrMapping/>
  </p:clrMapOvr>
  <p:transition spd="med">
    <p:fade/>
  </p:transition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LU3 · T2 · THE ENVIRONMENTAL TOLL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Red AI vs Green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64208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Task alignment — routing work to the smallest model that can do it — is the single largest lever on AI's environmental cost.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80" y="2103120"/>
            <a:ext cx="4242816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0" y="2103120"/>
            <a:ext cx="424281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'Red AI' — frontier by default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68896" y="2103120"/>
            <a:ext cx="4242816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68896" y="2103120"/>
            <a:ext cx="424281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'Green AI' — right-sized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560320"/>
            <a:ext cx="2148840" cy="8915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560320"/>
            <a:ext cx="1874520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Model choice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26080" y="2560320"/>
            <a:ext cx="4242816" cy="8915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90672" y="256032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Always the largest available frontier model, regardless of task difficulty.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68896" y="2560320"/>
            <a:ext cx="4242816" cy="8915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33488" y="256032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 small language model (SLM) for well-scoped, repetitive tasks; frontier models reserved for genuinely hard ones.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3451860"/>
            <a:ext cx="2148840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451860"/>
            <a:ext cx="1874520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Energy per query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26080" y="3451860"/>
            <a:ext cx="4242816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90672" y="345186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Orders of magnitude higher; every user added multiplies it.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68896" y="3451860"/>
            <a:ext cx="4242816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33488" y="345186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Dramatically lower, and often runs on local or modest hardware.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4343400"/>
            <a:ext cx="2148840" cy="8915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43400"/>
            <a:ext cx="1874520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Cost &amp; latency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26080" y="4343400"/>
            <a:ext cx="4242816" cy="8915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90672" y="434340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Highest cost per call and slower responses.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68896" y="4343400"/>
            <a:ext cx="4242816" cy="8915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33488" y="434340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Cheaper and faster — the business case usually aligns with the green case.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5234940"/>
            <a:ext cx="2148840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5234940"/>
            <a:ext cx="1874520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When justified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26080" y="5234940"/>
            <a:ext cx="4242816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90672" y="523494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Open-ended reasoning, novel synthesis, complex multi-step work.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68896" y="5234940"/>
            <a:ext cx="4242816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33488" y="523494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Classification, extraction, routing, summarisation, structured formatting.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57</a:t>
            </a:r>
          </a:p>
        </p:txBody>
      </p:sp>
    </p:spTree>
  </p:cSld>
  <p:clrMapOvr>
    <a:masterClrMapping/>
  </p:clrMapOvr>
  <p:transition spd="med">
    <p:fade/>
  </p:transition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LU3 · T2 · THE TRANSPARENCY CRISIS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Openness Does Not Equal Transparency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64208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'Open-weights' is a licence claim, not a disclosure of how the system was built.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057400"/>
            <a:ext cx="5180076" cy="19156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57400"/>
            <a:ext cx="91440" cy="19156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221992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What is usually disclosed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624328"/>
            <a:ext cx="4677156" cy="1275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Model weights, an architecture description, an inference licence and benchmark scores.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2057400"/>
            <a:ext cx="5180076" cy="19156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2057400"/>
            <a:ext cx="91440" cy="19156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05956" y="2221992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What usually is not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5956" y="2624328"/>
            <a:ext cx="4677156" cy="1275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The training-data composition and provenance, the data-filtering decisions, the human feedback process and the evaluation failures.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210812"/>
            <a:ext cx="5180076" cy="19156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210812"/>
            <a:ext cx="91440" cy="19156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4375404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Why it matters for compliance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777740"/>
            <a:ext cx="4677156" cy="1275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You cannot assess IP provenance or privacy risk from weights alone — the questions a regulator asks concern the data, not the parameters.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1636" y="4210812"/>
            <a:ext cx="5180076" cy="19156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1636" y="4210812"/>
            <a:ext cx="91440" cy="19156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05956" y="4375404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59E0B"/>
                </a:solidFill>
                <a:latin typeface="Arial"/>
              </a:rPr>
              <a:t>What to ask a vendor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05956" y="4777740"/>
            <a:ext cx="4677156" cy="1275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Data provenance and licensing; retention and training use of your inputs; published evaluation results including failures; incident history and escalation path.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58</a:t>
            </a:r>
          </a:p>
        </p:txBody>
      </p:sp>
    </p:spTree>
  </p:cSld>
  <p:clrMapOvr>
    <a:masterClrMapping/>
  </p:clrMapOvr>
  <p:transition spd="med">
    <p:fade/>
  </p:transition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LU3 · T3 · DEMYSTIFYING THE BLACK BOX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Technical Trade-off — Accuracy vs Interpretability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64208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The more capable the model, the harder it is to explain — and explanation is often a legal requirement.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80" y="2103120"/>
            <a:ext cx="4242816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0" y="2103120"/>
            <a:ext cx="424281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Interpretable by design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68896" y="2103120"/>
            <a:ext cx="4242816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68896" y="2103120"/>
            <a:ext cx="424281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Black box + post-hoc XAI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560320"/>
            <a:ext cx="2148840" cy="8915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560320"/>
            <a:ext cx="1874520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Examples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26080" y="2560320"/>
            <a:ext cx="4242816" cy="8915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90672" y="256032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Linear and logistic regression, decision trees, rule lists.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68896" y="2560320"/>
            <a:ext cx="4242816" cy="8915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33488" y="256032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Deep neural networks, gradient-boosted ensembles, large language models.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3451860"/>
            <a:ext cx="2148840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451860"/>
            <a:ext cx="1874520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Explanation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26080" y="3451860"/>
            <a:ext cx="4242816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90672" y="345186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The model IS the explanation — you can read the coefficients or the tree.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68896" y="3451860"/>
            <a:ext cx="4242816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33488" y="345186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Requires SHAP or LIME to approximate why a particular decision was made.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4343400"/>
            <a:ext cx="2148840" cy="8915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43400"/>
            <a:ext cx="1874520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Trade-off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26080" y="4343400"/>
            <a:ext cx="4242816" cy="8915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90672" y="434340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Lower ceiling on accuracy for complex, high-dimensional problems.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68896" y="4343400"/>
            <a:ext cx="4242816" cy="8915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33488" y="434340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Higher accuracy, but the explanation is an approximation, not the mechanism.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5234940"/>
            <a:ext cx="2148840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5234940"/>
            <a:ext cx="1874520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Where each fits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26080" y="5234940"/>
            <a:ext cx="4242816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90672" y="523494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Regulated, contestable decisions — credit, hiring, benefits, sentencing.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68896" y="5234940"/>
            <a:ext cx="4242816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33488" y="523494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Perception, language and pattern tasks — with XAI bolted on where decisions affect people.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59</a:t>
            </a:r>
          </a:p>
        </p:txBody>
      </p:sp>
    </p:spTree>
  </p:cSld>
  <p:clrMapOvr>
    <a:masterClrMapping/>
  </p:clrMapOvr>
  <p:transition spd="med">
    <p:fade/>
  </p:transition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LU3 · T3 · TWO WAYS TO EXPLAIN A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LIME vs SHAP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926080" y="2103120"/>
            <a:ext cx="4242816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0" y="2103120"/>
            <a:ext cx="424281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LIME</a:t>
            </a:r>
          </a:p>
        </p:txBody>
      </p:sp>
      <p:sp>
        <p:nvSpPr>
          <p:cNvPr id="9" name="Rectangle 8"/>
          <p:cNvSpPr/>
          <p:nvPr/>
        </p:nvSpPr>
        <p:spPr>
          <a:xfrm>
            <a:off x="7168896" y="2103120"/>
            <a:ext cx="4242816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68896" y="2103120"/>
            <a:ext cx="424281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SHAP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560320"/>
            <a:ext cx="2148840" cy="8915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560320"/>
            <a:ext cx="1874520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Basis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26080" y="2560320"/>
            <a:ext cx="4242816" cy="8915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90672" y="256032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Fits a simple interpretable model locally around the one prediction being explained.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68896" y="2560320"/>
            <a:ext cx="4242816" cy="8915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33488" y="256032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Shapley values from cooperative game theory — each feature's fair share of the outcome.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451860"/>
            <a:ext cx="2148840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451860"/>
            <a:ext cx="1874520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Consistency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26080" y="3451860"/>
            <a:ext cx="4242816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90672" y="345186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Stochastic — re-running gives slightly different values each time.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68896" y="3451860"/>
            <a:ext cx="4242816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33488" y="345186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Deterministic and additive — the contributions sum exactly to the prediction.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4343400"/>
            <a:ext cx="2148840" cy="8915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343400"/>
            <a:ext cx="1874520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Speed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926080" y="4343400"/>
            <a:ext cx="4242816" cy="8915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90672" y="434340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Fast; practical for quick, local inspection.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68896" y="4343400"/>
            <a:ext cx="4242816" cy="8915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33488" y="434340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Slower; exact computation is expensive for large models.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7240" y="5234940"/>
            <a:ext cx="2148840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234940"/>
            <a:ext cx="1874520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Best for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926080" y="5234940"/>
            <a:ext cx="4242816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090672" y="523494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Rapid, intuitive checks on individual predictions during development.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168896" y="5234940"/>
            <a:ext cx="4242816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33488" y="523494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Explanations that must be defended to a regulator, an auditor or the affected person.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60</a:t>
            </a:r>
          </a:p>
        </p:txBody>
      </p:sp>
    </p:spTree>
  </p:cSld>
  <p:clrMapOvr>
    <a:masterClrMapping/>
  </p:clrMapOvr>
  <p:transition spd="med">
    <p:fade/>
  </p:transition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LU3 · T3 · HIGH-STAKES APPLICATIONS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Anatomy of Algorithmic Discrimination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64208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The same failure pattern recurs across documented cases in hiring, credit, health and policing.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057400"/>
            <a:ext cx="5180076" cy="19156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57400"/>
            <a:ext cx="91440" cy="19156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221992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Amazon's recruiting tool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624328"/>
            <a:ext cx="4677156" cy="1275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Trained on ten years of predominantly male hires; learned to penalise resumes containing signals of being a woman. Withdrawn.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2057400"/>
            <a:ext cx="5180076" cy="19156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2057400"/>
            <a:ext cx="91440" cy="19156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05956" y="2221992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Apple Card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5956" y="2624328"/>
            <a:ext cx="4677156" cy="1275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Couples with shared finances received markedly different credit limits; neither the operator nor the issuer could explain the decisions.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210812"/>
            <a:ext cx="5180076" cy="19156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210812"/>
            <a:ext cx="91440" cy="19156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4375404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IBM Watson for Oncology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777740"/>
            <a:ext cx="4677156" cy="1275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Recommended unsafe treatments; trained substantially on synthetic cases rather than real patient outcomes.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1636" y="4210812"/>
            <a:ext cx="5180076" cy="19156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1636" y="4210812"/>
            <a:ext cx="91440" cy="19156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05956" y="4375404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59E0B"/>
                </a:solidFill>
                <a:latin typeface="Arial"/>
              </a:rPr>
              <a:t>Clearview 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05956" y="4777740"/>
            <a:ext cx="4677156" cy="1275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Scraped billions of facial images without consent to build an identification service sold to law enforcement.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61</a:t>
            </a:r>
          </a:p>
        </p:txBody>
      </p:sp>
    </p:spTree>
  </p:cSld>
  <p:clrMapOvr>
    <a:masterClrMapping/>
  </p:clrMapOvr>
  <p:transition spd="med">
    <p:fade/>
  </p:transition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LU3 · T3 · THE ULTIMATE OBJECTIVE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Ethical AI is not a roadblock to innovation — it is the prerequisite.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Cost reduction must advance alongside accessibility and quality. A system that is cheaper and faster but unfair, opaque or unsafe has not improved anything that matters.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62</a:t>
            </a:r>
          </a:p>
        </p:txBody>
      </p:sp>
    </p:spTree>
  </p:cSld>
  <p:clrMapOvr>
    <a:masterClrMapping/>
  </p:clrMapOvr>
  <p:transition spd="med">
    <p:fade/>
  </p:transition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In-Class Activities — Best Practices of Responsible Generative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43656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43656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88645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Activities 10–11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886456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AI System Comparison Matrix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Differential Privacy Explorer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22648" y="1783080"/>
            <a:ext cx="3343656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22648" y="1783080"/>
            <a:ext cx="3343656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51248" y="2011680"/>
            <a:ext cx="288645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Activities 12–13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51248" y="2697480"/>
            <a:ext cx="2886456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Explainable AI (XAI) Explorer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The Ethical Paradigms of AI Resource Allocation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68056" y="1783080"/>
            <a:ext cx="3343656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68056" y="1783080"/>
            <a:ext cx="3343656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6656" y="2011680"/>
            <a:ext cx="288645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Activities 14–14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6656" y="2697480"/>
            <a:ext cx="2886456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AI Ethics Case Study Analyzer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63</a:t>
            </a:r>
          </a:p>
        </p:txBody>
      </p:sp>
    </p:spTree>
  </p:cSld>
  <p:clrMapOvr>
    <a:masterClrMapping/>
  </p:clrMapOvr>
  <p:transition spd="med">
    <p:fade/>
  </p:transition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LU3 · ACTIVITY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AI System Comparison Matrix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73736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173736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ACTIVITY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40280"/>
            <a:ext cx="10698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Score ChatGPT, Claude and Gemini across five responsibility dimensions and plot them on a radar chart — turning 'which AI should we use?' into an evidence-based comparison rather than a brand preference.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127248"/>
            <a:ext cx="5486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WORKFLOW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535277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35277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Score ChatGPT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68219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51683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51683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709720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09720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1411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Score Claude &amp; Gemini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2662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26126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26126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884163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84163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35854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Add a 4th system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17105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00569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00569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058606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58606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10297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Update the chart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91548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475012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475012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33049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33049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84740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Read the radar &amp; table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" y="5257800"/>
            <a:ext cx="10634472" cy="89611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77240" y="5257800"/>
            <a:ext cx="91440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97280" y="5349240"/>
            <a:ext cx="7863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YOU'LL PRODUCE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" y="5623560"/>
            <a:ext cx="7863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 radar comparison chart and scored comparison table ranking at least three AI systems by overall average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52560" y="5257800"/>
            <a:ext cx="214884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Duration</a:t>
            </a:r>
          </a:p>
          <a:p>
            <a:pPr algn="r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15 minutes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64</a:t>
            </a:r>
          </a:p>
        </p:txBody>
      </p:sp>
    </p:spTree>
  </p:cSld>
  <p:clrMapOvr>
    <a:masterClrMapping/>
  </p:clrMapOvr>
  <p:transition spd="med">
    <p:fade/>
  </p:transition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LU3 · ACTIVITY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Differential Privacy Explorer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73736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173736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ACTIVITY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40280"/>
            <a:ext cx="10698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Turn the epsilon dial and watch the privacy-utility trade-off happen in front of you — strong privacy makes the answer noisy, weak privacy makes it accurate but leaks.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127248"/>
            <a:ext cx="5486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WORKFLOW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535277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35277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Run at epsilon 1.0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68219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51683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51683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709720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09720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1411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Compare low vs high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2662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26126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26126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884163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84163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35854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Try randomised response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17105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00569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00569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058606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58606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10297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Spend the budget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91548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475012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475012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33049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33049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84740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Exhaust the budget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" y="5257800"/>
            <a:ext cx="10634472" cy="89611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77240" y="5257800"/>
            <a:ext cx="91440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97280" y="5349240"/>
            <a:ext cx="7863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YOU'LL PRODUCE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" y="5623560"/>
            <a:ext cx="7863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 set of query results at three different epsilon values plus a spent privacy budget showing how many queries a dataset can safely answer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52560" y="5257800"/>
            <a:ext cx="214884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Duration</a:t>
            </a:r>
          </a:p>
          <a:p>
            <a:pPr algn="r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15 minutes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65</a:t>
            </a:r>
          </a:p>
        </p:txBody>
      </p:sp>
    </p:spTree>
  </p:cSld>
  <p:clrMapOvr>
    <a:masterClrMapping/>
  </p:clrMapOvr>
  <p:transition spd="med">
    <p:fade/>
  </p:transition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LU3 · ACTIVITY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Explainable AI (XAI) Explorer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73736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173736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ACTIVITY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40280"/>
            <a:ext cx="10698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Open the black box on a loan-approval model: adjust an applicant's profile, watch the decision flip, and compare how LIME and SHAP each explain why.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127248"/>
            <a:ext cx="5486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WORKFLOW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535277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35277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Load a borderline case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68219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51683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51683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709720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09720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1411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Flip the 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2662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26126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26126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884163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84163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35854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Run LIME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17105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00569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00569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058606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58606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10297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Run SHAP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91548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475012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475012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33049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33049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84740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Compare side by side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" y="5257800"/>
            <a:ext cx="10634472" cy="89611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77240" y="5257800"/>
            <a:ext cx="91440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97280" y="5349240"/>
            <a:ext cx="7863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YOU'LL PRODUCE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" y="5623560"/>
            <a:ext cx="7863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LIME and SHAP explanations for the same borderline applicant, plus the side-by-side comparison of the two methods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52560" y="5257800"/>
            <a:ext cx="214884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Duration</a:t>
            </a:r>
          </a:p>
          <a:p>
            <a:pPr algn="r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15 minutes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66</a:t>
            </a:r>
          </a:p>
        </p:txBody>
      </p:sp>
    </p:spTree>
  </p:cSld>
  <p:clrMapOvr>
    <a:masterClrMapping/>
  </p:clrMapOvr>
  <p:transition spd="med">
    <p:fade/>
  </p:transition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LU3 · ACTIVITY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Ethical Paradigms of AI Resource Allocation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73736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173736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ACTIVITY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40280"/>
            <a:ext cx="10698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Allocate a scarce resource — 50 treatments among 120 eligible patients — three times over, once under each ethical paradigm, and confront the fact that all three are defensible and they disagree about who lives.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127248"/>
            <a:ext cx="5486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WORKFLOW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535277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35277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Study the 3 paradigms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68219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51683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51683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709720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09720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1411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Load the scenario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2662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26126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26126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884163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84163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35854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Run all 3 allocations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17105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00569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00569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058606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58606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10297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Compare the outcomes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91548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475012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475012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33049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33049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84740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Justify your choice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" y="5257800"/>
            <a:ext cx="10634472" cy="89611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77240" y="5257800"/>
            <a:ext cx="91440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97280" y="5349240"/>
            <a:ext cx="7863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YOU'LL PRODUCE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" y="5623560"/>
            <a:ext cx="7863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Three allocation results for the same scenario under the Utilitarian, Egalitarian and Prioritarian paradigms, with your own written justification of which is most appropriate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52560" y="5257800"/>
            <a:ext cx="214884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Duration</a:t>
            </a:r>
          </a:p>
          <a:p>
            <a:pPr algn="r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15 minutes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67</a:t>
            </a:r>
          </a:p>
        </p:txBody>
      </p:sp>
    </p:spTree>
  </p:cSld>
  <p:clrMapOvr>
    <a:masterClrMapping/>
  </p:clrMapOvr>
  <p:transition spd="med">
    <p:fade/>
  </p:transition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LU3 · ACTIVITY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AI Ethics Case Study Analyzer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73736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173736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ACTIVITY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40280"/>
            <a:ext cx="10698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Analyse documented AI ethics failures — IBM Watson for Oncology, the Apple Card credit investigation, Amazon's recruiting tool, Clearview AI — and propose the remediation that should have been in place.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127248"/>
            <a:ext cx="5486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WORKFLOW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535277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35277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Filter to your sector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68219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51683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51683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709720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09720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1411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Read the case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2662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26126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26126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884163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84163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35854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Identify the issues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17105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00569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00569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058606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58606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10297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Propose remediation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91548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475012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475012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33049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33049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84740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Find the pattern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" y="5257800"/>
            <a:ext cx="10634472" cy="89611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77240" y="5257800"/>
            <a:ext cx="91440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97280" y="5349240"/>
            <a:ext cx="7863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YOU'LL PRODUCE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" y="5623560"/>
            <a:ext cx="7863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 written analysis of at least one case identifying its ethical issues and your proposed remediation, compared against an AI critique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52560" y="5257800"/>
            <a:ext cx="214884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Duration</a:t>
            </a:r>
          </a:p>
          <a:p>
            <a:pPr algn="r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15 minutes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68</a:t>
            </a:r>
          </a:p>
        </p:txBody>
      </p:sp>
    </p:spTree>
  </p:cSld>
  <p:clrMapOvr>
    <a:masterClrMapping/>
  </p:clrMapOvr>
  <p:transition spd="med">
    <p:fade/>
  </p:transition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LU3 · OPEN THE ACTIVITIES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 Links — Best Practices of Responsible Generative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683971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1850745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185074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Activity 10: AI System Comparison Matrix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https://tertiarycourses.github.io/TGS-2025060472-Responsible-Generative-AI-Basics/lu3-best-practices/ai-comparison/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704795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704795"/>
            <a:ext cx="91440" cy="683971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3272" y="277246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27724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2832811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Activity 11: Differential Privacy Explorer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https://tertiarycourses.github.io/TGS-2025060472-Responsible-Generative-AI-Basics/lu3-best-practices/differential-privacy/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62651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626510"/>
            <a:ext cx="91440" cy="683971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5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754526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Activity 12: Explainable AI (XAI) Explorer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https://tertiarycourses.github.io/TGS-2025060472-Responsible-Generative-AI-Basics/lu3-best-practices/xai-explorer/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548225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548225"/>
            <a:ext cx="91440" cy="683971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3272" y="461589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" y="461589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4676241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Activity 13: The Ethical Paradigms of AI Resource Allocation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https://tertiarycourses.github.io/TGS-2025060472-Responsible-Generative-AI-Basics/lu3-best-practices/ai-resource-allocation/   ·   Needs a Gemini API key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546994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5469940"/>
            <a:ext cx="91440" cy="683971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537605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53760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5597956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Activity 14: AI Ethics Case Study Analyzer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https://tertiarycourses.github.io/TGS-2025060472-Responsible-Generative-AI-Basics/lu3-best-practices/ethics-case-study/   ·   Needs a Gemini API key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69</a:t>
            </a:r>
          </a:p>
        </p:txBody>
      </p:sp>
    </p:spTree>
  </p:cSld>
  <p:clrMapOvr>
    <a:masterClrMapping/>
  </p:clrMapOvr>
  <p:transition spd="med">
    <p:fade/>
  </p:transition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LU3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Best Practices of Responsible Generative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AI System Comparison Matrix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You can now: Compare AI systems on intellectual property, data privacy and environmental impact (A5).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Differential Privacy Explorer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You can now: Explain how differential privacy protects individuals and the privacy-utility trade-off it imposes (K1, K3).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Explainable AI (XAI) Explorer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You can now: Compare explainability techniques and the accuracy-interpretability trade-off (K3, A6).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The Ethical Paradigms of AI Resource Allocation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You can now: Compare ethical issues in AI applications across competing ethical frameworks (A6).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AI Ethics Case Study Analyzer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You can now: Identify ethical issues in real AI deployments and propose remediation (A6, A1).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70</a:t>
            </a:r>
          </a:p>
        </p:txBody>
      </p:sp>
    </p:spTree>
  </p:cSld>
  <p:clrMapOvr>
    <a:masterClrMapping/>
  </p:clrMapOvr>
  <p:transition spd="med">
    <p:fade/>
  </p:transition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WRAP-UP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Course Summary &amp; 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71</a:t>
            </a:r>
          </a:p>
        </p:txBody>
      </p:sp>
    </p:spTree>
  </p:cSld>
  <p:clrMapOvr>
    <a:masterClrMapping/>
  </p:clrMapOvr>
  <p:transition spd="med">
    <p:fade/>
  </p:transition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LEARNING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You Achieved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9427464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LO1 · Ethical Reasoning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Assessed generative AI outputs against ethical principles, exercised professional scepticism and made documented, defensible decisions.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319272"/>
            <a:ext cx="1063447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3447288"/>
            <a:ext cx="9427464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LO2 · Privacy Safeguards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Applied anonymisation, de-identification and secure-storage measures, and designed an ethical AI data policy.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855464"/>
            <a:ext cx="1063447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983480"/>
            <a:ext cx="9427464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LO3 · Ethical Comparison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Compared AI systems on intellectual property, data privacy and environmental impact, and analysed real ethical failures.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72</a:t>
            </a:r>
          </a:p>
        </p:txBody>
      </p:sp>
    </p:spTree>
  </p:cSld>
  <p:clrMapOvr>
    <a:masterClrMapping/>
  </p:clrMapOvr>
  <p:transition spd="med">
    <p:fade/>
  </p:transition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196596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19659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9427464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Written Assessment (WA, SAQ) — 30 minutes, covering K1–K4.  Case Study (CS) — 30 minutes, covering A1–A6.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935224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935224"/>
            <a:ext cx="91440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3272" y="311810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311810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3026664"/>
            <a:ext cx="9427464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Open book: slides, Learner Guide and approved materials only.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270248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27024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78808"/>
            <a:ext cx="9427464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Remember to complete the TRAQOM survey and take the Assessment digital attendance (two separate steps).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5239512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5239512"/>
            <a:ext cx="91440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3272" y="5422392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" y="542239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5330952"/>
            <a:ext cx="9427464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Submit your completed answers on the LMS at https://lms-tms.tertiaryinfotech.com/.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73</a:t>
            </a:r>
          </a:p>
        </p:txBody>
      </p:sp>
    </p:spTree>
  </p:cSld>
  <p:clrMapOvr>
    <a:masterClrMapping/>
  </p:clrMapOvr>
  <p:transition spd="med">
    <p:fade/>
  </p:transition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ON ASSESSMENT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679192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679192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657600"/>
            <a:ext cx="1585569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TRAQOM survey — scan the QR code on the LMS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679192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679192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657600"/>
            <a:ext cx="1585569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Assessment digital attendance — scan the SSG QR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679192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679192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657600"/>
            <a:ext cx="1585569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Sit WA (SAQ) then the Case Study — open book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679192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679192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657600"/>
            <a:ext cx="1585569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Submit your answers on the LMS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679192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679192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657600"/>
            <a:ext cx="1585569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Sign the Assessment Summary Record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74</a:t>
            </a:r>
          </a:p>
        </p:txBody>
      </p:sp>
    </p:spTree>
  </p:cSld>
  <p:clrMapOvr>
    <a:masterClrMapping/>
  </p:clrMapOvr>
  <p:transition spd="med">
    <p:fade/>
  </p:transition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SSG DIGITAL 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196596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19659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9427464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It is mandatory to take the AM, PM and Assessment digital attendance for WSQ-funded courses.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935224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935224"/>
            <a:ext cx="91440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3272" y="311810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311810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3026664"/>
            <a:ext cx="9427464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The trainer/administrator displays the digital attendance QR code from the SSG portal.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270248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27024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78808"/>
            <a:ext cx="9427464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Scan the QR code with your mobile phone camera and submit your attendance.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5239512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5239512"/>
            <a:ext cx="91440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3272" y="5422392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" y="542239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5330952"/>
            <a:ext cx="9427464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 minimum of 75% attendance is required to be eligible for assessment and funding.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75</a:t>
            </a:r>
          </a:p>
        </p:txBody>
      </p:sp>
    </p:spTree>
  </p:cSld>
  <p:clrMapOvr>
    <a:masterClrMapping/>
  </p:clrMapOvr>
  <p:transition spd="med">
    <p:fade/>
  </p:transition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SEE YOU AT THE NEXT 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Thank You!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You can now question a confident machine, protect the data you feed it, and compare AI systems on more than accuracy alone.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76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